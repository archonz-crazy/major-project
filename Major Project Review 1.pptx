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318" r:id="rId3"/>
    <p:sldId id="319" r:id="rId4"/>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0D57203-080B-4C32-84DE-207DFA4A0170}" type="datetimeFigureOut">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1A7CD4-AEF3-4151-9944-84F5ECA9E7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430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D57203-080B-4C32-84DE-207DFA4A0170}" type="datetimeFigureOut">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126419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D57203-080B-4C32-84DE-207DFA4A0170}" type="datetimeFigureOut">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1A7CD4-AEF3-4151-9944-84F5ECA9E7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0439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D57203-080B-4C32-84DE-207DFA4A0170}" type="datetimeFigureOut">
              <a:rPr lang="en-US" smtClean="0"/>
              <a:t>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499366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0D57203-080B-4C32-84DE-207DFA4A0170}" type="datetimeFigureOut">
              <a:rPr lang="en-US" smtClean="0"/>
              <a:t>3/1/2022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4113796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D57203-080B-4C32-84DE-207DFA4A0170}" type="datetimeFigureOut">
              <a:rPr lang="en-US" smtClean="0"/>
              <a:t>3/1/2022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256987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0D57203-080B-4C32-84DE-207DFA4A0170}" type="datetimeFigureOut">
              <a:rPr lang="en-US" smtClean="0"/>
              <a:t>3/1/2022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2115308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0D57203-080B-4C32-84DE-207DFA4A0170}" type="datetimeFigureOut">
              <a:rPr lang="en-US" smtClean="0"/>
              <a:t>3/1/2022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1A7CD4-AEF3-4151-9944-84F5ECA9E7B7}" type="slidenum">
              <a:rPr lang="en-US" smtClean="0"/>
              <a:t>‹#›</a:t>
            </a:fld>
            <a:endParaRPr lang="en-US"/>
          </a:p>
        </p:txBody>
      </p:sp>
    </p:spTree>
    <p:extLst>
      <p:ext uri="{BB962C8B-B14F-4D97-AF65-F5344CB8AC3E}">
        <p14:creationId xmlns:p14="http://schemas.microsoft.com/office/powerpoint/2010/main" val="2883887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D57203-080B-4C32-84DE-207DFA4A0170}" type="datetimeFigureOut">
              <a:rPr lang="en-US" smtClean="0"/>
              <a:t>3/1/2022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2775956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D57203-080B-4C32-84DE-207DFA4A0170}" type="datetimeFigureOut">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970897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D57203-080B-4C32-84DE-207DFA4A0170}" type="datetimeFigureOut">
              <a:rPr lang="en-US" smtClean="0"/>
              <a:t>3/1/2022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1A7CD4-AEF3-4151-9944-84F5ECA9E7B7}" type="slidenum">
              <a:rPr lang="en-US" smtClean="0"/>
              <a:t>‹#›</a:t>
            </a:fld>
            <a:endParaRPr lang="en-US"/>
          </a:p>
        </p:txBody>
      </p:sp>
    </p:spTree>
    <p:extLst>
      <p:ext uri="{BB962C8B-B14F-4D97-AF65-F5344CB8AC3E}">
        <p14:creationId xmlns:p14="http://schemas.microsoft.com/office/powerpoint/2010/main" val="353501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0D57203-080B-4C32-84DE-207DFA4A0170}" type="datetimeFigureOut">
              <a:rPr lang="en-US" smtClean="0"/>
              <a:t>3/1/2022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D1A7CD4-AEF3-4151-9944-84F5ECA9E7B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7367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E48C60-88FB-4640-81E6-A33792B9A4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9515" y="163795"/>
            <a:ext cx="5292969" cy="1559497"/>
          </a:xfrm>
          <a:prstGeom prst="rect">
            <a:avLst/>
          </a:prstGeom>
        </p:spPr>
      </p:pic>
      <p:sp>
        <p:nvSpPr>
          <p:cNvPr id="5" name="Content Placeholder 5">
            <a:extLst>
              <a:ext uri="{FF2B5EF4-FFF2-40B4-BE49-F238E27FC236}">
                <a16:creationId xmlns:a16="http://schemas.microsoft.com/office/drawing/2014/main" id="{716F972C-8D1B-4C22-B39D-274BE7A721D0}"/>
              </a:ext>
            </a:extLst>
          </p:cNvPr>
          <p:cNvSpPr>
            <a:spLocks noGrp="1"/>
          </p:cNvSpPr>
          <p:nvPr/>
        </p:nvSpPr>
        <p:spPr>
          <a:xfrm>
            <a:off x="1294361" y="1661746"/>
            <a:ext cx="9603275" cy="422527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lgn="ctr">
              <a:buNone/>
            </a:pPr>
            <a:r>
              <a:rPr lang="en-IN" sz="3000" b="1" dirty="0"/>
              <a:t>   Tomato Leaf Disease Identification by Restructured Deep Residual Dense Network</a:t>
            </a:r>
          </a:p>
          <a:p>
            <a:pPr marL="0" indent="0">
              <a:buNone/>
            </a:pPr>
            <a:r>
              <a:rPr lang="en-IN" sz="2800" b="1" dirty="0"/>
              <a:t>				         </a:t>
            </a:r>
            <a:r>
              <a:rPr lang="en-IN" sz="1900" dirty="0"/>
              <a:t>BY</a:t>
            </a:r>
          </a:p>
          <a:p>
            <a:pPr marL="914400" lvl="2" indent="0">
              <a:buNone/>
            </a:pPr>
            <a:r>
              <a:rPr lang="en-IN" sz="2000" b="1" dirty="0"/>
              <a:t>	             </a:t>
            </a:r>
            <a:r>
              <a:rPr lang="en-IN" sz="2200" dirty="0"/>
              <a:t>K. Mahesh Babu	   18831A0578</a:t>
            </a:r>
          </a:p>
          <a:p>
            <a:pPr marL="914400" lvl="2" indent="0">
              <a:buNone/>
            </a:pPr>
            <a:r>
              <a:rPr lang="en-IN" sz="2200" dirty="0"/>
              <a:t>	            K. Mahikshit	   18831A0583</a:t>
            </a:r>
          </a:p>
          <a:p>
            <a:pPr marL="914400" lvl="2" indent="0">
              <a:buNone/>
            </a:pPr>
            <a:r>
              <a:rPr lang="en-IN" sz="2200" dirty="0"/>
              <a:t>	            K. </a:t>
            </a:r>
            <a:r>
              <a:rPr lang="en-IN" sz="2200" dirty="0" err="1"/>
              <a:t>Rithika</a:t>
            </a:r>
            <a:r>
              <a:rPr lang="en-IN" sz="2200" dirty="0"/>
              <a:t>                      18831A0567</a:t>
            </a:r>
          </a:p>
          <a:p>
            <a:pPr marL="914400" lvl="2" indent="0">
              <a:buNone/>
            </a:pPr>
            <a:endParaRPr lang="en-IN" sz="2000" dirty="0"/>
          </a:p>
          <a:p>
            <a:pPr marL="0" lvl="0" indent="0" algn="ctr" rtl="0">
              <a:lnSpc>
                <a:spcPct val="90000"/>
              </a:lnSpc>
              <a:spcBef>
                <a:spcPts val="1000"/>
              </a:spcBef>
              <a:spcAft>
                <a:spcPts val="0"/>
              </a:spcAft>
              <a:buClr>
                <a:schemeClr val="dk1"/>
              </a:buClr>
              <a:buSzPts val="2400"/>
              <a:buNone/>
            </a:pPr>
            <a:r>
              <a:rPr lang="en-US" sz="2600" dirty="0">
                <a:latin typeface="Times New Roman" pitchFamily="18" charset="0"/>
                <a:cs typeface="Times New Roman" pitchFamily="18" charset="0"/>
              </a:rPr>
              <a:t>Under the Guidance of </a:t>
            </a:r>
          </a:p>
          <a:p>
            <a:pPr marL="0" lvl="0" indent="0" algn="ctr" rtl="0">
              <a:lnSpc>
                <a:spcPct val="90000"/>
              </a:lnSpc>
              <a:spcBef>
                <a:spcPts val="1000"/>
              </a:spcBef>
              <a:spcAft>
                <a:spcPts val="0"/>
              </a:spcAft>
              <a:buClr>
                <a:schemeClr val="dk1"/>
              </a:buClr>
              <a:buSzPts val="2400"/>
              <a:buNone/>
            </a:pPr>
            <a:r>
              <a:rPr lang="en-US" sz="2600" b="1" dirty="0">
                <a:latin typeface="Times New Roman" pitchFamily="18" charset="0"/>
                <a:cs typeface="Times New Roman" pitchFamily="18" charset="0"/>
              </a:rPr>
              <a:t>Mr. </a:t>
            </a:r>
            <a:r>
              <a:rPr lang="en-US" sz="2600" b="1" dirty="0" err="1">
                <a:latin typeface="Times New Roman" pitchFamily="18" charset="0"/>
                <a:cs typeface="Times New Roman" pitchFamily="18" charset="0"/>
              </a:rPr>
              <a:t>A.Rajesh</a:t>
            </a:r>
            <a:endParaRPr lang="en-US" sz="2600" b="1" dirty="0">
              <a:latin typeface="Times New Roman" pitchFamily="18" charset="0"/>
              <a:cs typeface="Times New Roman" pitchFamily="18" charset="0"/>
            </a:endParaRPr>
          </a:p>
          <a:p>
            <a:pPr marL="0" lvl="0" indent="0" algn="ctr" rtl="0">
              <a:lnSpc>
                <a:spcPct val="90000"/>
              </a:lnSpc>
              <a:spcBef>
                <a:spcPts val="1000"/>
              </a:spcBef>
              <a:spcAft>
                <a:spcPts val="0"/>
              </a:spcAft>
              <a:buClr>
                <a:schemeClr val="dk1"/>
              </a:buClr>
              <a:buSzPts val="2400"/>
              <a:buNone/>
            </a:pPr>
            <a:r>
              <a:rPr lang="en-US" sz="3800" b="1" dirty="0">
                <a:latin typeface="Times New Roman" pitchFamily="18" charset="0"/>
                <a:cs typeface="Times New Roman" pitchFamily="18" charset="0"/>
              </a:rPr>
              <a:t> </a:t>
            </a:r>
            <a:r>
              <a:rPr lang="en-US" sz="2400" b="1" dirty="0">
                <a:latin typeface="Times New Roman" pitchFamily="18" charset="0"/>
                <a:cs typeface="Times New Roman" pitchFamily="18" charset="0"/>
              </a:rPr>
              <a:t>(Associate Professor)</a:t>
            </a:r>
            <a:endParaRPr lang="en-IN" sz="2400" dirty="0"/>
          </a:p>
        </p:txBody>
      </p:sp>
    </p:spTree>
    <p:extLst>
      <p:ext uri="{BB962C8B-B14F-4D97-AF65-F5344CB8AC3E}">
        <p14:creationId xmlns:p14="http://schemas.microsoft.com/office/powerpoint/2010/main" val="293752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79120-93D1-4B30-BCBA-5555BD7DDB9F}"/>
              </a:ext>
            </a:extLst>
          </p:cNvPr>
          <p:cNvSpPr>
            <a:spLocks noGrp="1"/>
          </p:cNvSpPr>
          <p:nvPr>
            <p:ph type="title"/>
          </p:nvPr>
        </p:nvSpPr>
        <p:spPr>
          <a:xfrm>
            <a:off x="1335921" y="909961"/>
            <a:ext cx="9520158" cy="767919"/>
          </a:xfrm>
        </p:spPr>
        <p:txBody>
          <a:bodyPr>
            <a:normAutofit/>
          </a:bodyPr>
          <a:lstStyle/>
          <a:p>
            <a:r>
              <a:rPr lang="en-US" sz="3200"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A297CD-FC13-4166-A04C-5CA247318203}"/>
              </a:ext>
            </a:extLst>
          </p:cNvPr>
          <p:cNvSpPr>
            <a:spLocks noGrp="1"/>
          </p:cNvSpPr>
          <p:nvPr>
            <p:ph idx="1"/>
          </p:nvPr>
        </p:nvSpPr>
        <p:spPr>
          <a:xfrm>
            <a:off x="1534696" y="1811045"/>
            <a:ext cx="9520158" cy="4136994"/>
          </a:xfrm>
        </p:spPr>
        <p:txBody>
          <a:bodyPr>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Abstract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Literature Survey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Existing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Drawbacks of </a:t>
            </a:r>
            <a:r>
              <a:rPr lang="en-US" dirty="0" err="1">
                <a:latin typeface="Times New Roman" panose="02020603050405020304" pitchFamily="18" charset="0"/>
                <a:cs typeface="Times New Roman" panose="02020603050405020304" pitchFamily="18" charset="0"/>
              </a:rPr>
              <a:t>Exisitng</a:t>
            </a:r>
            <a:r>
              <a:rPr lang="en-US" dirty="0">
                <a:latin typeface="Times New Roman" panose="02020603050405020304" pitchFamily="18" charset="0"/>
                <a:cs typeface="Times New Roman" panose="02020603050405020304" pitchFamily="18" charset="0"/>
              </a:rPr>
              <a:t>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Proposed System</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Methodologies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Enhancement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92140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0232-A74F-4387-9FCB-7BDF6313C95F}"/>
              </a:ext>
            </a:extLst>
          </p:cNvPr>
          <p:cNvSpPr>
            <a:spLocks noGrp="1"/>
          </p:cNvSpPr>
          <p:nvPr>
            <p:ph type="title"/>
          </p:nvPr>
        </p:nvSpPr>
        <p:spPr/>
        <p:txBody>
          <a:bodyPr/>
          <a:lstStyle/>
          <a:p>
            <a:r>
              <a:rPr lang="en-US" dirty="0"/>
              <a:t>Abstract	</a:t>
            </a:r>
          </a:p>
        </p:txBody>
      </p:sp>
      <p:sp>
        <p:nvSpPr>
          <p:cNvPr id="3" name="Content Placeholder 2">
            <a:extLst>
              <a:ext uri="{FF2B5EF4-FFF2-40B4-BE49-F238E27FC236}">
                <a16:creationId xmlns:a16="http://schemas.microsoft.com/office/drawing/2014/main" id="{3A280B90-D6FE-4B1D-BE3A-EF21326E71B3}"/>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COVID-19</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spread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worldwide;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major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grain-producing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countries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adopted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measures to restrict their grain exports; food security has aroused great concern from various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parties. How to improve grain production has become one of the most important issues faced by all</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countries.</a:t>
            </a:r>
            <a:r>
              <a:rPr lang="en-US" sz="1800" spc="-55" dirty="0">
                <a:effectLst/>
                <a:latin typeface="Times New Roman" panose="02020603050405020304" pitchFamily="18" charset="0"/>
                <a:ea typeface="Times New Roman" panose="02020603050405020304" pitchFamily="18" charset="0"/>
              </a:rPr>
              <a:t> </a:t>
            </a:r>
          </a:p>
          <a:p>
            <a:pPr algn="jus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However,</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crop</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diseases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difficult</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problem</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many</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farmers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so</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important</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master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severity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crop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diseases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timely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accurately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help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staff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take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further</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intervention measures to minimize plants being further infected. </a:t>
            </a:r>
          </a:p>
          <a:p>
            <a:pPr algn="jus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A restructured residual dense</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 was proposed for tomato leaf disease identification; this hybrid deep learning model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combines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advantages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residual</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dense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which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can</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reduce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number of training process parameters to improve calculation accuracy as well as enhance the</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flow of information and gradients. </a:t>
            </a:r>
          </a:p>
          <a:p>
            <a:pPr algn="jus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The original RDN model was first used in image super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resolution, so we need to restructure the network architecture for classification tasks through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adjusted input image features and hyper parameters.</a:t>
            </a:r>
          </a:p>
          <a:p>
            <a:pPr algn="jus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The restructured residual dense network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model can obtain significant improvements over most of the state-of-the-art models in crop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leaf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identification,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well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 requiring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less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computation 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achieve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high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performance.</a:t>
            </a:r>
          </a:p>
          <a:p>
            <a:endParaRPr lang="en-US" dirty="0"/>
          </a:p>
        </p:txBody>
      </p:sp>
    </p:spTree>
    <p:extLst>
      <p:ext uri="{BB962C8B-B14F-4D97-AF65-F5344CB8AC3E}">
        <p14:creationId xmlns:p14="http://schemas.microsoft.com/office/powerpoint/2010/main" val="1119073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0A45-9AF5-425C-B1A8-A3E2008B2F1F}"/>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F0D5DB0F-332B-4E33-A5E2-181C816F17C8}"/>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Leaf diseases greatly influence crop growth and yield. Researchers have performed considerable work to effectively identify the severities of crop disease to present, the research on crop disease identification is mainly divided into two topics.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Using any one of the Computer Vision or Machine Learning methods, we can get acceptable results, but to predict in the level of a state-of the-art model, we combine the both topics and implement a custom RDN (Residual Dense Network), which uses components from both Computer Vision and Machine Learning.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traditional Computer Vision methods are mainly based on spectral detection and feature extraction to identify different diseases. While the Machine Learning methods are used to identification of disease images is extracted by using supervised or unsupervised learning algorithms and the recognition is carried out through different features of diseased and healthy plants.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However, a combination of these methods are rarely applied to crop leaf disease identification that can balance accuracy and efficiency.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 to combat this problem, we propose a restructured dense residual network that adjusts the structure and parameters. The purpose of this model is to improve the performance in crop leaf identification and reduce the impact of the disease on the crop as much as possible.</a:t>
            </a:r>
          </a:p>
        </p:txBody>
      </p:sp>
    </p:spTree>
    <p:extLst>
      <p:ext uri="{BB962C8B-B14F-4D97-AF65-F5344CB8AC3E}">
        <p14:creationId xmlns:p14="http://schemas.microsoft.com/office/powerpoint/2010/main" val="2935356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E722F-AE06-4EF1-BB1A-6B8A1AD079AF}"/>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7BE89DB0-7AB5-4C9B-8BE4-EBA455E809BC}"/>
              </a:ext>
            </a:extLst>
          </p:cNvPr>
          <p:cNvSpPr>
            <a:spLocks noGrp="1"/>
          </p:cNvSpPr>
          <p:nvPr>
            <p:ph idx="1"/>
          </p:nvPr>
        </p:nvSpPr>
        <p:spPr>
          <a:xfrm>
            <a:off x="1097280" y="1845733"/>
            <a:ext cx="10058400" cy="4262103"/>
          </a:xfrm>
        </p:spPr>
        <p:txBody>
          <a:bodyPr>
            <a:normAutofit fontScale="85000" lnSpcReduction="20000"/>
          </a:bodyPr>
          <a:lstStyle/>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TITLE</a:t>
            </a:r>
            <a:r>
              <a:rPr lang="en-US" sz="1800" dirty="0">
                <a:effectLst/>
                <a:latin typeface="Times New Roman" panose="02020603050405020304" pitchFamily="18" charset="0"/>
                <a:ea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Classification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Neural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AUTHORS</a:t>
            </a:r>
            <a:r>
              <a:rPr lang="en-US" sz="1800" dirty="0">
                <a:effectLst/>
                <a:latin typeface="Times New Roman" panose="02020603050405020304" pitchFamily="18" charset="0"/>
                <a:ea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Alex</a:t>
            </a:r>
            <a:r>
              <a:rPr lang="en-US" sz="1800" spc="-1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Krizhevsky</a:t>
            </a:r>
            <a:r>
              <a:rPr lang="en-US" sz="1800" dirty="0">
                <a:effectLst/>
                <a:latin typeface="Times New Roman" panose="02020603050405020304" pitchFamily="18" charset="0"/>
                <a:ea typeface="Times New Roman" panose="02020603050405020304" pitchFamily="18" charset="0"/>
              </a:rPr>
              <a:t>, Ilya</a:t>
            </a:r>
            <a:r>
              <a:rPr lang="en-US" sz="1800" spc="-1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Sutskever</a:t>
            </a:r>
            <a:r>
              <a:rPr lang="en-US" sz="1800" dirty="0">
                <a:effectLst/>
                <a:latin typeface="Times New Roman" panose="02020603050405020304" pitchFamily="18" charset="0"/>
                <a:ea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Geoffrey</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Hinton</a:t>
            </a:r>
          </a:p>
          <a:p>
            <a:pPr marL="0" marR="0">
              <a:spcBef>
                <a:spcPts val="10"/>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YEAR</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2012</a:t>
            </a: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DESCRIPTION</a:t>
            </a:r>
            <a:r>
              <a:rPr lang="en-US" sz="1800" b="0" dirty="0">
                <a:effectLst/>
                <a:latin typeface="Times New Roman" panose="02020603050405020304" pitchFamily="18" charset="0"/>
                <a:ea typeface="Times New Roman" panose="02020603050405020304" pitchFamily="18" charset="0"/>
              </a:rPr>
              <a:t>:</a:t>
            </a:r>
            <a:endParaRPr lang="en-US" sz="1800" b="1" dirty="0">
              <a:effectLst/>
              <a:latin typeface="Times New Roman" panose="02020603050405020304" pitchFamily="18" charset="0"/>
              <a:ea typeface="Times New Roman" panose="02020603050405020304" pitchFamily="18" charset="0"/>
            </a:endParaRP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lgn="just">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They trained a large, deep convolutional neural network to classify the 1.2 million high-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resolution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LSVRC-2010</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contest</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into</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1000</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classes.</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test data, they have achieved top-1 and top-5 error rates of 37.5% and 17.0% which 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considerably</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better</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than</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previous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state-of-the-art.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neural</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which</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60</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million</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parameters and 650,000 neurons, consists of five convolutional layers, some of which 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followed by max-pooling layers, and three fully-connected layers with a final 1000-way</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softmax</a:t>
            </a:r>
            <a:r>
              <a:rPr lang="en-US" sz="1800" dirty="0">
                <a:effectLst/>
                <a:latin typeface="Times New Roman" panose="02020603050405020304" pitchFamily="18" charset="0"/>
                <a:ea typeface="Times New Roman" panose="02020603050405020304" pitchFamily="18" charset="0"/>
              </a:rPr>
              <a:t>. To make training faster, they have used non-saturating neurons and a very efficient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GPU</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implementation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operation.</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7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reduce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overfitting</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fully-connected</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 they have employed a recently-developed regularization method called “dropout” that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proved to be very effective. They have also entered a variant of this model in the ILSVRC-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2012 competition and achieved a winning top-5 test error rate of 15.3%, compared to 26.2%</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achieved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second-best entry.</a:t>
            </a:r>
          </a:p>
          <a:p>
            <a:endParaRPr lang="en-US" dirty="0"/>
          </a:p>
        </p:txBody>
      </p:sp>
    </p:spTree>
    <p:extLst>
      <p:ext uri="{BB962C8B-B14F-4D97-AF65-F5344CB8AC3E}">
        <p14:creationId xmlns:p14="http://schemas.microsoft.com/office/powerpoint/2010/main" val="3571261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5A7F5A-F587-4E32-83BC-BD924A4EB9A7}"/>
              </a:ext>
            </a:extLst>
          </p:cNvPr>
          <p:cNvSpPr>
            <a:spLocks noGrp="1"/>
          </p:cNvSpPr>
          <p:nvPr>
            <p:ph idx="4294967295"/>
          </p:nvPr>
        </p:nvSpPr>
        <p:spPr>
          <a:xfrm>
            <a:off x="1066800" y="958788"/>
            <a:ext cx="10058400" cy="4998129"/>
          </a:xfrm>
        </p:spPr>
        <p:txBody>
          <a:bodyPr>
            <a:normAutofit fontScale="85000" lnSpcReduction="10000"/>
          </a:bodyPr>
          <a:lstStyle/>
          <a:p>
            <a:pPr marL="63500" marR="0">
              <a:spcBef>
                <a:spcPts val="300"/>
              </a:spcBef>
              <a:spcAft>
                <a:spcPts val="0"/>
              </a:spcAft>
            </a:pPr>
            <a:r>
              <a:rPr lang="en-US" sz="1800" b="1" dirty="0">
                <a:effectLst/>
                <a:latin typeface="Times New Roman" panose="02020603050405020304" pitchFamily="18" charset="0"/>
                <a:ea typeface="Times New Roman" panose="02020603050405020304" pitchFamily="18" charset="0"/>
              </a:rPr>
              <a:t>TITLE:</a:t>
            </a:r>
            <a:r>
              <a:rPr lang="en-US" sz="1800" b="1"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Going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convolutions</a:t>
            </a: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1214755">
              <a:lnSpc>
                <a:spcPct val="150000"/>
              </a:lnSpc>
              <a:spcBef>
                <a:spcPts val="5"/>
              </a:spcBef>
              <a:spcAft>
                <a:spcPts val="0"/>
              </a:spcAft>
            </a:pPr>
            <a:r>
              <a:rPr lang="en-US" sz="1800" b="1" dirty="0">
                <a:effectLst/>
                <a:latin typeface="Times New Roman" panose="02020603050405020304" pitchFamily="18" charset="0"/>
                <a:ea typeface="Times New Roman" panose="02020603050405020304" pitchFamily="18" charset="0"/>
              </a:rPr>
              <a:t>AUTHORS: </a:t>
            </a:r>
            <a:r>
              <a:rPr lang="en-US" sz="1800" dirty="0">
                <a:effectLst/>
                <a:latin typeface="Times New Roman" panose="02020603050405020304" pitchFamily="18" charset="0"/>
                <a:ea typeface="Times New Roman" panose="02020603050405020304" pitchFamily="18" charset="0"/>
              </a:rPr>
              <a:t>Christian </a:t>
            </a:r>
            <a:r>
              <a:rPr lang="en-US" sz="1800" dirty="0" err="1">
                <a:effectLst/>
                <a:latin typeface="Times New Roman" panose="02020603050405020304" pitchFamily="18" charset="0"/>
                <a:ea typeface="Times New Roman" panose="02020603050405020304" pitchFamily="18" charset="0"/>
              </a:rPr>
              <a:t>Szegedy</a:t>
            </a:r>
            <a:r>
              <a:rPr lang="en-US" sz="1800" dirty="0">
                <a:effectLst/>
                <a:latin typeface="Times New Roman" panose="02020603050405020304" pitchFamily="18" charset="0"/>
                <a:ea typeface="Times New Roman" panose="02020603050405020304" pitchFamily="18" charset="0"/>
              </a:rPr>
              <a: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Wei Liu, </a:t>
            </a:r>
            <a:r>
              <a:rPr lang="en-US" sz="1800" dirty="0" err="1">
                <a:effectLst/>
                <a:latin typeface="Times New Roman" panose="02020603050405020304" pitchFamily="18" charset="0"/>
                <a:ea typeface="Times New Roman" panose="02020603050405020304" pitchFamily="18" charset="0"/>
              </a:rPr>
              <a:t>Yangqing</a:t>
            </a:r>
            <a:r>
              <a:rPr lang="en-US" sz="1800" dirty="0">
                <a:effectLst/>
                <a:latin typeface="Times New Roman" panose="02020603050405020304" pitchFamily="18" charset="0"/>
                <a:ea typeface="Times New Roman" panose="02020603050405020304" pitchFamily="18" charset="0"/>
              </a:rPr>
              <a:t> Jia,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Pierre</a:t>
            </a:r>
            <a:r>
              <a:rPr lang="en-US" sz="1800" spc="-1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Sermanet</a:t>
            </a:r>
            <a:r>
              <a:rPr lang="en-US" sz="1800" dirty="0">
                <a:effectLst/>
                <a:latin typeface="Times New Roman" panose="02020603050405020304" pitchFamily="18" charset="0"/>
                <a:ea typeface="Times New Roman" panose="02020603050405020304" pitchFamily="18" charset="0"/>
              </a:rPr>
              <a: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Scott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Reed,</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Dragomir </a:t>
            </a:r>
            <a:r>
              <a:rPr lang="en-US" sz="1800" dirty="0" err="1">
                <a:effectLst/>
                <a:latin typeface="Times New Roman" panose="02020603050405020304" pitchFamily="18" charset="0"/>
                <a:ea typeface="Times New Roman" panose="02020603050405020304" pitchFamily="18" charset="0"/>
              </a:rPr>
              <a:t>Anguelov</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Dumitru</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Erhan,</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Vincent</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Vanhoucke</a:t>
            </a:r>
            <a:r>
              <a:rPr lang="en-US" sz="1800" dirty="0">
                <a:effectLst/>
                <a:latin typeface="Times New Roman" panose="02020603050405020304" pitchFamily="18" charset="0"/>
                <a:ea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Andrew</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Rabinovich</a:t>
            </a:r>
            <a:endParaRPr lang="en-US" sz="1800" dirty="0">
              <a:effectLst/>
              <a:latin typeface="Times New Roman" panose="02020603050405020304" pitchFamily="18" charset="0"/>
              <a:ea typeface="Times New Roman" panose="02020603050405020304" pitchFamily="18" charset="0"/>
            </a:endParaRPr>
          </a:p>
          <a:p>
            <a:pPr marL="0" marR="0">
              <a:spcBef>
                <a:spcPts val="10"/>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YEAR:</a:t>
            </a:r>
            <a:r>
              <a:rPr lang="en-US" sz="1800" b="0" spc="-5" dirty="0">
                <a:effectLst/>
                <a:latin typeface="Times New Roman" panose="02020603050405020304" pitchFamily="18" charset="0"/>
                <a:ea typeface="Times New Roman" panose="02020603050405020304" pitchFamily="18" charset="0"/>
              </a:rPr>
              <a:t> 2012</a:t>
            </a:r>
            <a:endParaRPr lang="en-US" sz="1800" b="1" dirty="0">
              <a:effectLst/>
              <a:latin typeface="Times New Roman" panose="02020603050405020304" pitchFamily="18" charset="0"/>
              <a:ea typeface="Times New Roman" panose="02020603050405020304" pitchFamily="18" charset="0"/>
            </a:endParaRPr>
          </a:p>
          <a:p>
            <a:pPr marL="0" marR="0">
              <a:spcBef>
                <a:spcPts val="20"/>
              </a:spcBef>
              <a:spcAft>
                <a:spcPts val="0"/>
              </a:spcAft>
            </a:pPr>
            <a:r>
              <a:rPr lang="en-US" sz="1800" b="1"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DESCRIPTION</a:t>
            </a:r>
            <a:r>
              <a:rPr lang="en-US" sz="1800" dirty="0">
                <a:effectLst/>
                <a:latin typeface="Times New Roman" panose="02020603050405020304" pitchFamily="18" charset="0"/>
                <a:ea typeface="Times New Roman" panose="02020603050405020304" pitchFamily="18" charset="0"/>
              </a:rPr>
              <a:t>:</a:t>
            </a:r>
          </a:p>
          <a:p>
            <a:pPr marL="0" marR="0">
              <a:spcBef>
                <a:spcPts val="20"/>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695325" algn="just">
              <a:lnSpc>
                <a:spcPct val="150000"/>
              </a:lnSpc>
              <a:spcBef>
                <a:spcPts val="5"/>
              </a:spcBef>
              <a:spcAft>
                <a:spcPts val="0"/>
              </a:spcAft>
            </a:pPr>
            <a:r>
              <a:rPr lang="en-US" sz="1800" dirty="0">
                <a:effectLst/>
                <a:latin typeface="Times New Roman" panose="02020603050405020304" pitchFamily="18" charset="0"/>
                <a:ea typeface="Times New Roman" panose="02020603050405020304" pitchFamily="18" charset="0"/>
              </a:rPr>
              <a:t>They propose a deep convolutional neural network architecture codenamed Inception, which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was responsible for setting the new state of the art for classification and detection in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 Large-Scale Visual Recognition Challenge 2014 (ILSVRC14). The main hallmark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this architecture is the improved utilization of the computing resources inside the network.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 was achieved by a carefully crafted design that allows for increasing the depth and width</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the network while keeping the computational budget constant. To optimize quality,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architectural decisions were based on the Hebbian principle and the intuition of multi-scale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processing.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particular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incarnation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our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submission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ILSVRC14</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called</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GoogLeNet</a:t>
            </a:r>
            <a:r>
              <a:rPr lang="en-US" sz="1800" dirty="0">
                <a:effectLst/>
                <a:latin typeface="Times New Roman" panose="02020603050405020304" pitchFamily="18" charset="0"/>
                <a:ea typeface="Times New Roman" panose="02020603050405020304" pitchFamily="18" charset="0"/>
              </a:rPr>
              <a:t>, a 22 layers deep network, the quality of which is assessed in the context 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classification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detection.</a:t>
            </a:r>
          </a:p>
          <a:p>
            <a:endParaRPr lang="en-US" dirty="0"/>
          </a:p>
        </p:txBody>
      </p:sp>
    </p:spTree>
    <p:extLst>
      <p:ext uri="{BB962C8B-B14F-4D97-AF65-F5344CB8AC3E}">
        <p14:creationId xmlns:p14="http://schemas.microsoft.com/office/powerpoint/2010/main" val="310007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5A23A-51DC-41D2-B47A-10A960A2C8A2}"/>
              </a:ext>
            </a:extLst>
          </p:cNvPr>
          <p:cNvSpPr>
            <a:spLocks noGrp="1"/>
          </p:cNvSpPr>
          <p:nvPr>
            <p:ph idx="4294967295"/>
          </p:nvPr>
        </p:nvSpPr>
        <p:spPr>
          <a:xfrm>
            <a:off x="1066800" y="674704"/>
            <a:ext cx="10058400" cy="4963466"/>
          </a:xfrm>
        </p:spPr>
        <p:txBody>
          <a:bodyPr>
            <a:normAutofit fontScale="77500" lnSpcReduction="20000"/>
          </a:bodyPr>
          <a:lstStyle/>
          <a:p>
            <a:pPr marL="63500" marR="2275205">
              <a:lnSpc>
                <a:spcPct val="200000"/>
              </a:lnSpc>
              <a:spcBef>
                <a:spcPts val="300"/>
              </a:spcBef>
              <a:spcAft>
                <a:spcPts val="0"/>
              </a:spcAft>
            </a:pPr>
            <a:r>
              <a:rPr lang="en-US" sz="1800" b="1" dirty="0">
                <a:effectLst/>
                <a:latin typeface="Times New Roman" panose="02020603050405020304" pitchFamily="18" charset="0"/>
                <a:ea typeface="Times New Roman" panose="02020603050405020304" pitchFamily="18" charset="0"/>
              </a:rPr>
              <a:t>TITLE</a:t>
            </a:r>
            <a:r>
              <a:rPr lang="en-US" sz="1800" dirty="0">
                <a:effectLst/>
                <a:latin typeface="Times New Roman" panose="02020603050405020304" pitchFamily="18" charset="0"/>
                <a:ea typeface="Times New Roman" panose="02020603050405020304" pitchFamily="18" charset="0"/>
              </a:rPr>
              <a:t>: Deep Residual Learning for Image Recognition</a:t>
            </a:r>
            <a:r>
              <a:rPr lang="en-US" sz="1800" spc="5" dirty="0">
                <a:effectLst/>
                <a:latin typeface="Times New Roman" panose="02020603050405020304" pitchFamily="18" charset="0"/>
                <a:ea typeface="Times New Roman" panose="02020603050405020304" pitchFamily="18" charset="0"/>
              </a:rPr>
              <a:t> </a:t>
            </a:r>
          </a:p>
          <a:p>
            <a:pPr marL="63500" marR="2275205">
              <a:lnSpc>
                <a:spcPct val="200000"/>
              </a:lnSpc>
              <a:spcBef>
                <a:spcPts val="300"/>
              </a:spcBef>
              <a:spcAft>
                <a:spcPts val="0"/>
              </a:spcAft>
            </a:pPr>
            <a:r>
              <a:rPr lang="en-US" sz="1800" b="1" dirty="0">
                <a:effectLst/>
                <a:latin typeface="Times New Roman" panose="02020603050405020304" pitchFamily="18" charset="0"/>
                <a:ea typeface="Times New Roman" panose="02020603050405020304" pitchFamily="18" charset="0"/>
              </a:rPr>
              <a:t>AUTHORS</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Kaiming</a:t>
            </a:r>
            <a:r>
              <a:rPr lang="en-US" sz="1800" dirty="0">
                <a:effectLst/>
                <a:latin typeface="Times New Roman" panose="02020603050405020304" pitchFamily="18" charset="0"/>
                <a:ea typeface="Times New Roman" panose="02020603050405020304" pitchFamily="18" charset="0"/>
              </a:rPr>
              <a:t> He, </a:t>
            </a:r>
            <a:r>
              <a:rPr lang="en-US" sz="1800" dirty="0" err="1">
                <a:effectLst/>
                <a:latin typeface="Times New Roman" panose="02020603050405020304" pitchFamily="18" charset="0"/>
                <a:ea typeface="Times New Roman" panose="02020603050405020304" pitchFamily="18" charset="0"/>
              </a:rPr>
              <a:t>Xiangyu</a:t>
            </a:r>
            <a:r>
              <a:rPr lang="en-US" sz="1800" dirty="0">
                <a:effectLst/>
                <a:latin typeface="Times New Roman" panose="02020603050405020304" pitchFamily="18" charset="0"/>
                <a:ea typeface="Times New Roman" panose="02020603050405020304" pitchFamily="18" charset="0"/>
              </a:rPr>
              <a:t> Zhang, </a:t>
            </a:r>
            <a:r>
              <a:rPr lang="en-US" sz="1800" dirty="0" err="1">
                <a:effectLst/>
                <a:latin typeface="Times New Roman" panose="02020603050405020304" pitchFamily="18" charset="0"/>
                <a:ea typeface="Times New Roman" panose="02020603050405020304" pitchFamily="18" charset="0"/>
              </a:rPr>
              <a:t>Shaoqing</a:t>
            </a:r>
            <a:r>
              <a:rPr lang="en-US" sz="1800" dirty="0">
                <a:effectLst/>
                <a:latin typeface="Times New Roman" panose="02020603050405020304" pitchFamily="18" charset="0"/>
                <a:ea typeface="Times New Roman" panose="02020603050405020304" pitchFamily="18" charset="0"/>
              </a:rPr>
              <a:t> Ren, Jian Sun</a:t>
            </a:r>
            <a:r>
              <a:rPr lang="en-US" sz="1800" spc="-285" dirty="0">
                <a:effectLst/>
                <a:latin typeface="Times New Roman" panose="02020603050405020304" pitchFamily="18" charset="0"/>
                <a:ea typeface="Times New Roman" panose="02020603050405020304" pitchFamily="18" charset="0"/>
              </a:rPr>
              <a:t> </a:t>
            </a:r>
          </a:p>
          <a:p>
            <a:pPr marL="63500" marR="2275205">
              <a:lnSpc>
                <a:spcPct val="200000"/>
              </a:lnSpc>
              <a:spcBef>
                <a:spcPts val="300"/>
              </a:spcBef>
              <a:spcAft>
                <a:spcPts val="0"/>
              </a:spcAft>
            </a:pPr>
            <a:r>
              <a:rPr lang="en-US" sz="1800" b="1" dirty="0">
                <a:effectLst/>
                <a:latin typeface="Times New Roman" panose="02020603050405020304" pitchFamily="18" charset="0"/>
                <a:ea typeface="Times New Roman" panose="02020603050405020304" pitchFamily="18" charset="0"/>
              </a:rPr>
              <a:t>YEAR:</a:t>
            </a:r>
            <a:r>
              <a:rPr lang="en-US" sz="1800" b="1"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2015</a:t>
            </a:r>
          </a:p>
          <a:p>
            <a:pPr marL="63500" marR="0">
              <a:spcBef>
                <a:spcPts val="25"/>
              </a:spcBef>
              <a:spcAft>
                <a:spcPts val="0"/>
              </a:spcAft>
            </a:pPr>
            <a:endParaRPr lang="en-US" sz="1800" b="1" dirty="0">
              <a:effectLst/>
              <a:latin typeface="Times New Roman" panose="02020603050405020304" pitchFamily="18" charset="0"/>
              <a:ea typeface="Times New Roman" panose="02020603050405020304" pitchFamily="18" charset="0"/>
            </a:endParaRPr>
          </a:p>
          <a:p>
            <a:pPr marL="63500" marR="0">
              <a:spcBef>
                <a:spcPts val="25"/>
              </a:spcBef>
              <a:spcAft>
                <a:spcPts val="0"/>
              </a:spcAft>
            </a:pPr>
            <a:r>
              <a:rPr lang="en-US" sz="1800" b="1" dirty="0">
                <a:effectLst/>
                <a:latin typeface="Times New Roman" panose="02020603050405020304" pitchFamily="18" charset="0"/>
                <a:ea typeface="Times New Roman" panose="02020603050405020304" pitchFamily="18" charset="0"/>
              </a:rPr>
              <a:t>DESCRIPTION:</a:t>
            </a:r>
          </a:p>
          <a:p>
            <a:pPr marL="0" marR="0">
              <a:spcBef>
                <a:spcPts val="20"/>
              </a:spcBef>
              <a:spcAft>
                <a:spcPts val="0"/>
              </a:spcAft>
            </a:pPr>
            <a:r>
              <a:rPr lang="en-US" sz="1800" b="1"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63500" marR="695325" algn="just">
              <a:lnSpc>
                <a:spcPct val="150000"/>
              </a:lnSpc>
              <a:spcBef>
                <a:spcPts val="5"/>
              </a:spcBef>
              <a:spcAft>
                <a:spcPts val="0"/>
              </a:spcAft>
            </a:pPr>
            <a:r>
              <a:rPr lang="en-US" sz="1800" dirty="0">
                <a:effectLst/>
                <a:latin typeface="Times New Roman" panose="02020603050405020304" pitchFamily="18" charset="0"/>
                <a:ea typeface="Times New Roman" panose="02020603050405020304" pitchFamily="18" charset="0"/>
              </a:rPr>
              <a:t>Deeper neural networks are more difficult to train. They have presented a residual learning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framework to ease the training of networks that are substantially deeper than those used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previously. They have explicitly reformulated the layers as learning residual functions 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reference to the layer inputs, instead of learning unreferenced functions. They have provided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comprehensive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empirical</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evidence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showing</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these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residual</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easier</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optimize,</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can gain accuracy from considerably increased depth. On the ImageNet dataset they have</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evaluated residual nets with a depth of up to 152 layers—8× deeper than VGG nets but still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having lower complexity. An ensemble of these residual nets achieves 3.57% error on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 test set. This result won the 1st place on the ILSVRC 2015 classification task. They</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also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presented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CIFAR-10</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100</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1000</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depth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representations is of central importance for many visual recognition tasks. Solely due to their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extremely</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representations,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they</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obtained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28%</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relative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improvement</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COCO</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object detection dataset. Deep residual nets are foundations of our submissions to ILSVRC &amp;</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COCO 2015 competitions1, where they also won the 1st places on the tasks of ImageNet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detection,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localization, COCO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detection, 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COCO segmentation.</a:t>
            </a:r>
          </a:p>
          <a:p>
            <a:endParaRPr lang="en-US" dirty="0"/>
          </a:p>
        </p:txBody>
      </p:sp>
    </p:spTree>
    <p:extLst>
      <p:ext uri="{BB962C8B-B14F-4D97-AF65-F5344CB8AC3E}">
        <p14:creationId xmlns:p14="http://schemas.microsoft.com/office/powerpoint/2010/main" val="2158138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6AE926-A520-466F-B7CE-B7AFB1265263}"/>
              </a:ext>
            </a:extLst>
          </p:cNvPr>
          <p:cNvSpPr>
            <a:spLocks noGrp="1"/>
          </p:cNvSpPr>
          <p:nvPr>
            <p:ph idx="4294967295"/>
          </p:nvPr>
        </p:nvSpPr>
        <p:spPr>
          <a:xfrm>
            <a:off x="1066800" y="603389"/>
            <a:ext cx="10058400" cy="5096075"/>
          </a:xfrm>
        </p:spPr>
        <p:txBody>
          <a:bodyPr>
            <a:normAutofit fontScale="85000" lnSpcReduction="10000"/>
          </a:bodyPr>
          <a:lstStyle/>
          <a:p>
            <a:pPr marL="63500" marR="0">
              <a:spcBef>
                <a:spcPts val="300"/>
              </a:spcBef>
              <a:spcAft>
                <a:spcPts val="0"/>
              </a:spcAft>
            </a:pPr>
            <a:r>
              <a:rPr lang="en-US" sz="1800" b="1" dirty="0">
                <a:effectLst/>
                <a:latin typeface="Times New Roman" panose="02020603050405020304" pitchFamily="18" charset="0"/>
                <a:ea typeface="Times New Roman" panose="02020603050405020304" pitchFamily="18" charset="0"/>
              </a:rPr>
              <a:t>TITLE:</a:t>
            </a:r>
            <a:r>
              <a:rPr lang="en-US" sz="1800" b="1"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Densely</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Connected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5"/>
              </a:spcBef>
              <a:spcAft>
                <a:spcPts val="0"/>
              </a:spcAft>
            </a:pPr>
            <a:r>
              <a:rPr lang="en-US" sz="1800" b="1" dirty="0">
                <a:effectLst/>
                <a:latin typeface="Times New Roman" panose="02020603050405020304" pitchFamily="18" charset="0"/>
                <a:ea typeface="Times New Roman" panose="02020603050405020304" pitchFamily="18" charset="0"/>
              </a:rPr>
              <a:t>AUTHORS:</a:t>
            </a:r>
            <a:r>
              <a:rPr lang="en-US" sz="1800" b="1"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Gao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Huang,</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Zhuang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Liu,</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Laurens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der</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Maaten</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Kilian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Q. Weinberger</a:t>
            </a:r>
          </a:p>
          <a:p>
            <a:pPr marL="0" marR="0">
              <a:spcBef>
                <a:spcPts val="10"/>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YEAR:</a:t>
            </a:r>
            <a:r>
              <a:rPr lang="en-US" sz="1800" b="1"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2016</a:t>
            </a:r>
          </a:p>
          <a:p>
            <a:pPr marL="0" marR="0">
              <a:spcBef>
                <a:spcPts val="25"/>
              </a:spcBef>
              <a:spcAft>
                <a:spcPts val="0"/>
              </a:spcAft>
            </a:pPr>
            <a:r>
              <a:rPr lang="en-US" sz="1800" dirty="0">
                <a:effectLst/>
                <a:latin typeface="Times New Roman" panose="02020603050405020304" pitchFamily="18" charset="0"/>
                <a:ea typeface="Times New Roman" panose="02020603050405020304" pitchFamily="18" charset="0"/>
              </a:rPr>
              <a:t> </a:t>
            </a:r>
          </a:p>
          <a:p>
            <a:pPr marL="6350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DESCRIPTION:</a:t>
            </a:r>
          </a:p>
          <a:p>
            <a:pPr marL="0" marR="0">
              <a:spcBef>
                <a:spcPts val="25"/>
              </a:spcBef>
              <a:spcAft>
                <a:spcPts val="0"/>
              </a:spcAft>
            </a:pPr>
            <a:r>
              <a:rPr lang="en-US" sz="1800" b="1"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63500" marR="0" algn="just">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Recent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work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shown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substantially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accurate, and efficient to train if they contain shorter connections between layers close to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input and those close to the output. In this paper, they have embraced this observation 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introduce the Dense Convolutional Network (</a:t>
            </a:r>
            <a:r>
              <a:rPr lang="en-US" sz="1800" dirty="0" err="1">
                <a:effectLst/>
                <a:latin typeface="Times New Roman" panose="02020603050405020304" pitchFamily="18" charset="0"/>
                <a:ea typeface="Times New Roman" panose="02020603050405020304" pitchFamily="18" charset="0"/>
              </a:rPr>
              <a:t>DenseNet</a:t>
            </a:r>
            <a:r>
              <a:rPr lang="en-US" sz="1800" dirty="0">
                <a:effectLst/>
                <a:latin typeface="Times New Roman" panose="02020603050405020304" pitchFamily="18" charset="0"/>
                <a:ea typeface="Times New Roman" panose="02020603050405020304" pitchFamily="18" charset="0"/>
              </a:rPr>
              <a:t>), which connects each layer to every</a:t>
            </a:r>
            <a:r>
              <a:rPr lang="en-US" sz="1800" spc="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other</a:t>
            </a:r>
            <a:r>
              <a:rPr lang="en-US" sz="1800" spc="-7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layer</a:t>
            </a:r>
            <a:r>
              <a:rPr lang="en-US" sz="1800" spc="-6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in</a:t>
            </a:r>
            <a:r>
              <a:rPr lang="en-US" sz="1800" spc="-55"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a</a:t>
            </a:r>
            <a:r>
              <a:rPr lang="en-US" sz="1800" spc="-60" dirty="0">
                <a:effectLst/>
                <a:latin typeface="Times New Roman" panose="02020603050405020304" pitchFamily="18" charset="0"/>
                <a:ea typeface="Times New Roman" panose="02020603050405020304" pitchFamily="18" charset="0"/>
              </a:rPr>
              <a:t> </a:t>
            </a:r>
            <a:r>
              <a:rPr lang="en-US" sz="1800" spc="-5" dirty="0">
                <a:effectLst/>
                <a:latin typeface="Times New Roman" panose="02020603050405020304" pitchFamily="18" charset="0"/>
                <a:ea typeface="Times New Roman" panose="02020603050405020304" pitchFamily="18" charset="0"/>
              </a:rPr>
              <a:t>feed-forward</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fashion.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Whereas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traditional</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 L connections—one between each layer and its subsequent layer—our network has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L(L+1)/2 direct connections. For each layer, the feature-maps of all preceding layers are used</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 inputs, and its own feature-maps are used as inputs into all subsequent layers. </a:t>
            </a:r>
            <a:r>
              <a:rPr lang="en-US" sz="1800" dirty="0" err="1">
                <a:effectLst/>
                <a:latin typeface="Times New Roman" panose="02020603050405020304" pitchFamily="18" charset="0"/>
                <a:ea typeface="Times New Roman" panose="02020603050405020304" pitchFamily="18" charset="0"/>
              </a:rPr>
              <a:t>DenseNets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several</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compelling</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advantages: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they</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alleviate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vanishing-gradient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problem,</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strengthen</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feature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propagation,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encourage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feature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reuse,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substantially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reduce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number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parameters.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evaluated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proposed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architecture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four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highly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competitive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object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recognition benchmark tasks (CIFAR-10, CIFAR-100, SVHN, and ImageNet). </a:t>
            </a:r>
            <a:r>
              <a:rPr lang="en-US" sz="1800" dirty="0" err="1">
                <a:effectLst/>
                <a:latin typeface="Times New Roman" panose="02020603050405020304" pitchFamily="18" charset="0"/>
                <a:ea typeface="Times New Roman" panose="02020603050405020304" pitchFamily="18" charset="0"/>
              </a:rPr>
              <a:t>DenseNets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obtain</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significant</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improvements</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state-of-the-art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most</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them,</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whilst</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requiring</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less</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computation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achieve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high performance.</a:t>
            </a:r>
          </a:p>
          <a:p>
            <a:endParaRPr lang="en-US" dirty="0"/>
          </a:p>
        </p:txBody>
      </p:sp>
    </p:spTree>
    <p:extLst>
      <p:ext uri="{BB962C8B-B14F-4D97-AF65-F5344CB8AC3E}">
        <p14:creationId xmlns:p14="http://schemas.microsoft.com/office/powerpoint/2010/main" val="280920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904B6-51B8-428D-8148-4262ECC1BA17}"/>
              </a:ext>
            </a:extLst>
          </p:cNvPr>
          <p:cNvSpPr>
            <a:spLocks noGrp="1"/>
          </p:cNvSpPr>
          <p:nvPr>
            <p:ph type="title"/>
          </p:nvPr>
        </p:nvSpPr>
        <p:spPr/>
        <p:txBody>
          <a:bodyPr/>
          <a:lstStyle/>
          <a:p>
            <a:r>
              <a:rPr lang="en-US" dirty="0"/>
              <a:t>Existing System	</a:t>
            </a:r>
          </a:p>
        </p:txBody>
      </p:sp>
      <p:sp>
        <p:nvSpPr>
          <p:cNvPr id="3" name="Content Placeholder 2">
            <a:extLst>
              <a:ext uri="{FF2B5EF4-FFF2-40B4-BE49-F238E27FC236}">
                <a16:creationId xmlns:a16="http://schemas.microsoft.com/office/drawing/2014/main" id="{D5DFE64F-9868-4757-A939-35F64733C887}"/>
              </a:ext>
            </a:extLst>
          </p:cNvPr>
          <p:cNvSpPr>
            <a:spLocks noGrp="1"/>
          </p:cNvSpPr>
          <p:nvPr>
            <p:ph idx="1"/>
          </p:nvPr>
        </p:nvSpPr>
        <p:spPr>
          <a:xfrm>
            <a:off x="1097280" y="1845733"/>
            <a:ext cx="10058400" cy="4199959"/>
          </a:xfrm>
        </p:spPr>
        <p:txBody>
          <a:bodyPr>
            <a:normAutofit lnSpcReduction="10000"/>
          </a:bodyPr>
          <a:lstStyle/>
          <a:p>
            <a:pPr>
              <a:lnSpc>
                <a:spcPct val="150000"/>
              </a:lnSpc>
            </a:pPr>
            <a:r>
              <a:rPr lang="en-US" sz="1800" dirty="0">
                <a:effectLst/>
                <a:latin typeface="Times New Roman" panose="02020603050405020304" pitchFamily="18" charset="0"/>
                <a:ea typeface="Times New Roman" panose="02020603050405020304" pitchFamily="18" charset="0"/>
              </a:rPr>
              <a:t>With the development of deep learning, a variety of image recognition models have been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proposed, which can effectively solve the problem of crop leaf identification. At present,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popular</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deep</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 neural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 models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 are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widely used are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follows.</a:t>
            </a:r>
          </a:p>
          <a:p>
            <a:pPr marL="0" indent="0">
              <a:lnSpc>
                <a:spcPct val="150000"/>
              </a:lnSpc>
              <a:buNone/>
            </a:pPr>
            <a:r>
              <a:rPr lang="en-US" sz="1800" b="1" spc="0" dirty="0">
                <a:effectLst/>
                <a:latin typeface="Times New Roman" panose="02020603050405020304" pitchFamily="18" charset="0"/>
                <a:ea typeface="Times New Roman" panose="02020603050405020304" pitchFamily="18" charset="0"/>
              </a:rPr>
              <a:t>ALEXNET:</a:t>
            </a:r>
          </a:p>
          <a:p>
            <a:pPr marL="0" marR="0" indent="0" algn="just">
              <a:lnSpc>
                <a:spcPct val="150000"/>
              </a:lnSpc>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One of the main breakthroughs in deep convolutional networks was the development of</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AlexNet</a:t>
            </a:r>
            <a:r>
              <a:rPr lang="en-US" sz="1800" dirty="0">
                <a:effectLst/>
                <a:latin typeface="Times New Roman" panose="02020603050405020304" pitchFamily="18" charset="0"/>
                <a:ea typeface="Times New Roman" panose="02020603050405020304" pitchFamily="18" charset="0"/>
              </a:rPr>
              <a:t>. It won the championship of the ILSVRC2012 competition in the field of vision.</a:t>
            </a:r>
            <a:r>
              <a:rPr lang="en-US" sz="1800" spc="5"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AlexNet</a:t>
            </a:r>
            <a:r>
              <a:rPr lang="en-US" sz="1800" dirty="0">
                <a:effectLst/>
                <a:latin typeface="Times New Roman" panose="02020603050405020304" pitchFamily="18" charset="0"/>
                <a:ea typeface="Times New Roman" panose="02020603050405020304" pitchFamily="18" charset="0"/>
              </a:rPr>
              <a:t> consists of 5 convolution layers, 3 convergence layers and 3 full connection layers.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These include using the </a:t>
            </a:r>
            <a:r>
              <a:rPr lang="en-US" sz="1800" dirty="0" err="1">
                <a:effectLst/>
                <a:latin typeface="Times New Roman" panose="02020603050405020304" pitchFamily="18" charset="0"/>
                <a:ea typeface="Times New Roman" panose="02020603050405020304" pitchFamily="18" charset="0"/>
              </a:rPr>
              <a:t>ReLU</a:t>
            </a:r>
            <a:r>
              <a:rPr lang="en-US" sz="1800" dirty="0">
                <a:effectLst/>
                <a:latin typeface="Times New Roman" panose="02020603050405020304" pitchFamily="18" charset="0"/>
                <a:ea typeface="Times New Roman" panose="02020603050405020304" pitchFamily="18" charset="0"/>
              </a:rPr>
              <a:t> activation function instead of the sigmoid function or logistic</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function to solve the gradient dispersion problem. Local response normalization is used for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normalization and dropout is used at the fully connected level to avoid overfitting, as well 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overlapping.</a:t>
            </a:r>
          </a:p>
          <a:p>
            <a:endParaRPr lang="en-US" dirty="0"/>
          </a:p>
        </p:txBody>
      </p:sp>
    </p:spTree>
    <p:extLst>
      <p:ext uri="{BB962C8B-B14F-4D97-AF65-F5344CB8AC3E}">
        <p14:creationId xmlns:p14="http://schemas.microsoft.com/office/powerpoint/2010/main" val="1814161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5E27E-1D1E-47F3-9262-B1C02EBE7900}"/>
              </a:ext>
            </a:extLst>
          </p:cNvPr>
          <p:cNvSpPr>
            <a:spLocks noGrp="1"/>
          </p:cNvSpPr>
          <p:nvPr>
            <p:ph type="title"/>
          </p:nvPr>
        </p:nvSpPr>
        <p:spPr/>
        <p:txBody>
          <a:bodyPr/>
          <a:lstStyle/>
          <a:p>
            <a:r>
              <a:rPr lang="en-US" dirty="0" err="1"/>
              <a:t>AlexNet</a:t>
            </a:r>
            <a:r>
              <a:rPr lang="en-US" dirty="0"/>
              <a:t> architecture:</a:t>
            </a:r>
          </a:p>
        </p:txBody>
      </p:sp>
      <p:pic>
        <p:nvPicPr>
          <p:cNvPr id="4" name="image2.jpeg">
            <a:extLst>
              <a:ext uri="{FF2B5EF4-FFF2-40B4-BE49-F238E27FC236}">
                <a16:creationId xmlns:a16="http://schemas.microsoft.com/office/drawing/2014/main" id="{95F5F64B-A9F9-4979-BE17-81BB23456161}"/>
              </a:ext>
            </a:extLst>
          </p:cNvPr>
          <p:cNvPicPr>
            <a:picLocks noGrp="1" noChangeAspect="1"/>
          </p:cNvPicPr>
          <p:nvPr>
            <p:ph idx="1"/>
          </p:nvPr>
        </p:nvPicPr>
        <p:blipFill>
          <a:blip r:embed="rId2" cstate="print"/>
          <a:stretch>
            <a:fillRect/>
          </a:stretch>
        </p:blipFill>
        <p:spPr>
          <a:xfrm>
            <a:off x="1716926" y="1846263"/>
            <a:ext cx="8818473" cy="4022725"/>
          </a:xfrm>
          <a:prstGeom prst="rect">
            <a:avLst/>
          </a:prstGeom>
        </p:spPr>
      </p:pic>
    </p:spTree>
    <p:extLst>
      <p:ext uri="{BB962C8B-B14F-4D97-AF65-F5344CB8AC3E}">
        <p14:creationId xmlns:p14="http://schemas.microsoft.com/office/powerpoint/2010/main" val="1113225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CED0B-82E4-4ED6-A039-BFE3A4E4AC38}"/>
              </a:ext>
            </a:extLst>
          </p:cNvPr>
          <p:cNvSpPr>
            <a:spLocks noGrp="1"/>
          </p:cNvSpPr>
          <p:nvPr>
            <p:ph idx="4294967295"/>
          </p:nvPr>
        </p:nvSpPr>
        <p:spPr>
          <a:xfrm>
            <a:off x="1066800" y="505735"/>
            <a:ext cx="10058400" cy="5415671"/>
          </a:xfrm>
        </p:spPr>
        <p:txBody>
          <a:bodyPr/>
          <a:lstStyle/>
          <a:p>
            <a:pPr marL="0" marR="0" lvl="0" indent="0">
              <a:lnSpc>
                <a:spcPct val="150000"/>
              </a:lnSpc>
              <a:spcBef>
                <a:spcPts val="0"/>
              </a:spcBef>
              <a:spcAft>
                <a:spcPts val="0"/>
              </a:spcAft>
              <a:buSzPts val="1400"/>
              <a:buNone/>
              <a:tabLst>
                <a:tab pos="251460" algn="l"/>
              </a:tabLst>
            </a:pPr>
            <a:r>
              <a:rPr lang="en-US" sz="1800" b="1" spc="0" dirty="0">
                <a:effectLst/>
                <a:latin typeface="Times New Roman" panose="02020603050405020304" pitchFamily="18" charset="0"/>
                <a:ea typeface="Times New Roman" panose="02020603050405020304" pitchFamily="18" charset="0"/>
              </a:rPr>
              <a:t>INCEPTION</a:t>
            </a:r>
            <a:r>
              <a:rPr lang="en-US" sz="1800" b="1" spc="-15" dirty="0">
                <a:effectLst/>
                <a:latin typeface="Times New Roman" panose="02020603050405020304" pitchFamily="18" charset="0"/>
                <a:ea typeface="Times New Roman" panose="02020603050405020304" pitchFamily="18" charset="0"/>
              </a:rPr>
              <a:t> </a:t>
            </a:r>
            <a:r>
              <a:rPr lang="en-US" sz="1800" b="1" spc="0" dirty="0">
                <a:effectLst/>
                <a:latin typeface="Times New Roman" panose="02020603050405020304" pitchFamily="18" charset="0"/>
                <a:ea typeface="Times New Roman" panose="02020603050405020304" pitchFamily="18" charset="0"/>
              </a:rPr>
              <a:t>NETWORK</a:t>
            </a:r>
          </a:p>
          <a:p>
            <a:pPr marL="0" marR="0" indent="0" algn="just">
              <a:lnSpc>
                <a:spcPct val="150000"/>
              </a:lnSpc>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The previous networks perform convolutions layer-by-layer, and the results are input to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next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However,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inception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defines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module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carries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out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operations,</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finally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splices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operations</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output.</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Experimental</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results</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show that it has a good performance. The Inception network is different from the general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neural</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contains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multiple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kernels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sizes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 layer,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output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Inception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depth stitching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feature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map.</a:t>
            </a:r>
          </a:p>
          <a:p>
            <a:endParaRPr lang="en-US" dirty="0"/>
          </a:p>
        </p:txBody>
      </p:sp>
      <p:pic>
        <p:nvPicPr>
          <p:cNvPr id="4" name="image3.jpeg">
            <a:extLst>
              <a:ext uri="{FF2B5EF4-FFF2-40B4-BE49-F238E27FC236}">
                <a16:creationId xmlns:a16="http://schemas.microsoft.com/office/drawing/2014/main" id="{0E521ACC-DB04-4BEF-8C5F-30312E390E34}"/>
              </a:ext>
            </a:extLst>
          </p:cNvPr>
          <p:cNvPicPr>
            <a:picLocks noChangeAspect="1"/>
          </p:cNvPicPr>
          <p:nvPr/>
        </p:nvPicPr>
        <p:blipFill>
          <a:blip r:embed="rId2" cstate="print"/>
          <a:stretch>
            <a:fillRect/>
          </a:stretch>
        </p:blipFill>
        <p:spPr>
          <a:xfrm>
            <a:off x="2922344" y="3654344"/>
            <a:ext cx="6347312" cy="2407920"/>
          </a:xfrm>
          <a:prstGeom prst="rect">
            <a:avLst/>
          </a:prstGeom>
        </p:spPr>
      </p:pic>
    </p:spTree>
    <p:extLst>
      <p:ext uri="{BB962C8B-B14F-4D97-AF65-F5344CB8AC3E}">
        <p14:creationId xmlns:p14="http://schemas.microsoft.com/office/powerpoint/2010/main" val="1426254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9A45B3-ECC2-489C-8429-413F32943C75}"/>
              </a:ext>
            </a:extLst>
          </p:cNvPr>
          <p:cNvSpPr>
            <a:spLocks noGrp="1"/>
          </p:cNvSpPr>
          <p:nvPr>
            <p:ph idx="4294967295"/>
          </p:nvPr>
        </p:nvSpPr>
        <p:spPr>
          <a:xfrm>
            <a:off x="1066800" y="399203"/>
            <a:ext cx="10058400" cy="5628735"/>
          </a:xfrm>
        </p:spPr>
        <p:txBody>
          <a:bodyPr/>
          <a:lstStyle/>
          <a:p>
            <a:pPr marL="0" marR="0" lvl="0" indent="0">
              <a:spcBef>
                <a:spcPts val="0"/>
              </a:spcBef>
              <a:spcAft>
                <a:spcPts val="0"/>
              </a:spcAft>
              <a:buSzPts val="1400"/>
              <a:buNone/>
              <a:tabLst>
                <a:tab pos="257810" algn="l"/>
              </a:tabLst>
            </a:pPr>
            <a:r>
              <a:rPr lang="en-US" sz="1800" b="1" spc="0" dirty="0">
                <a:effectLst/>
                <a:latin typeface="Times New Roman" panose="02020603050405020304" pitchFamily="18" charset="0"/>
                <a:ea typeface="Times New Roman" panose="02020603050405020304" pitchFamily="18" charset="0"/>
              </a:rPr>
              <a:t>RESIDUAL</a:t>
            </a:r>
            <a:r>
              <a:rPr lang="en-US" sz="1800" b="1" spc="-15" dirty="0">
                <a:effectLst/>
                <a:latin typeface="Times New Roman" panose="02020603050405020304" pitchFamily="18" charset="0"/>
                <a:ea typeface="Times New Roman" panose="02020603050405020304" pitchFamily="18" charset="0"/>
              </a:rPr>
              <a:t> </a:t>
            </a:r>
            <a:r>
              <a:rPr lang="en-US" sz="1800" b="1" spc="0" dirty="0">
                <a:effectLst/>
                <a:latin typeface="Times New Roman" panose="02020603050405020304" pitchFamily="18" charset="0"/>
                <a:ea typeface="Times New Roman" panose="02020603050405020304" pitchFamily="18" charset="0"/>
              </a:rPr>
              <a:t>NETWORK</a:t>
            </a:r>
          </a:p>
          <a:p>
            <a:pPr marL="0" marR="0">
              <a:spcBef>
                <a:spcPts val="0"/>
              </a:spcBef>
              <a:spcAft>
                <a:spcPts val="0"/>
              </a:spcAft>
            </a:pPr>
            <a:r>
              <a:rPr lang="en-US" sz="1800" b="1" dirty="0">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sz="1800" dirty="0">
                <a:effectLst/>
                <a:latin typeface="Times New Roman" panose="02020603050405020304" pitchFamily="18" charset="0"/>
                <a:ea typeface="Times New Roman" panose="02020603050405020304" pitchFamily="18" charset="0"/>
              </a:rPr>
              <a:t>The residual network has not only made great progress in depth but the architecture is also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different from the previous networks. It inserts shortcut connections, which turn the network</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into</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counterpart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residual</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version.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identity</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shortcuts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directly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when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input</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output are of the same dimensions. The depth of representations is of central importance for many visual recognition tasks. Solely due to extremely deep representations, it obtained a 28% relative improvement on the COCO object detection dataset. Deep residual nets won 1st place on the ImageNet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detection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tasks,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ImageNet localization,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COCO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detection, and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COCO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segmentation.</a:t>
            </a:r>
          </a:p>
          <a:p>
            <a:endParaRPr lang="en-US" dirty="0"/>
          </a:p>
        </p:txBody>
      </p:sp>
    </p:spTree>
    <p:extLst>
      <p:ext uri="{BB962C8B-B14F-4D97-AF65-F5344CB8AC3E}">
        <p14:creationId xmlns:p14="http://schemas.microsoft.com/office/powerpoint/2010/main" val="4140666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251104-9DCA-4A61-8AD3-07D81ADC6B0A}"/>
              </a:ext>
            </a:extLst>
          </p:cNvPr>
          <p:cNvSpPr>
            <a:spLocks noGrp="1"/>
          </p:cNvSpPr>
          <p:nvPr>
            <p:ph type="title"/>
          </p:nvPr>
        </p:nvSpPr>
        <p:spPr/>
        <p:txBody>
          <a:bodyPr/>
          <a:lstStyle/>
          <a:p>
            <a:r>
              <a:rPr lang="en-US" dirty="0"/>
              <a:t>Residual Network</a:t>
            </a:r>
          </a:p>
        </p:txBody>
      </p:sp>
      <p:pic>
        <p:nvPicPr>
          <p:cNvPr id="5" name="image4.jpeg">
            <a:extLst>
              <a:ext uri="{FF2B5EF4-FFF2-40B4-BE49-F238E27FC236}">
                <a16:creationId xmlns:a16="http://schemas.microsoft.com/office/drawing/2014/main" id="{9AC52096-12DA-4AD5-8F10-3AB276BB801C}"/>
              </a:ext>
            </a:extLst>
          </p:cNvPr>
          <p:cNvPicPr>
            <a:picLocks noChangeAspect="1"/>
          </p:cNvPicPr>
          <p:nvPr/>
        </p:nvPicPr>
        <p:blipFill>
          <a:blip r:embed="rId2" cstate="print"/>
          <a:stretch>
            <a:fillRect/>
          </a:stretch>
        </p:blipFill>
        <p:spPr>
          <a:xfrm>
            <a:off x="1097280" y="1978242"/>
            <a:ext cx="10058400" cy="3889897"/>
          </a:xfrm>
          <a:prstGeom prst="rect">
            <a:avLst/>
          </a:prstGeom>
        </p:spPr>
      </p:pic>
    </p:spTree>
    <p:extLst>
      <p:ext uri="{BB962C8B-B14F-4D97-AF65-F5344CB8AC3E}">
        <p14:creationId xmlns:p14="http://schemas.microsoft.com/office/powerpoint/2010/main" val="214917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EBFC14-3A2D-41C4-B792-0CC8C9A9AE25}"/>
              </a:ext>
            </a:extLst>
          </p:cNvPr>
          <p:cNvSpPr>
            <a:spLocks noGrp="1"/>
          </p:cNvSpPr>
          <p:nvPr>
            <p:ph idx="4294967295"/>
          </p:nvPr>
        </p:nvSpPr>
        <p:spPr>
          <a:xfrm>
            <a:off x="1066800" y="319303"/>
            <a:ext cx="10058400" cy="5717513"/>
          </a:xfrm>
        </p:spPr>
        <p:txBody>
          <a:bodyPr>
            <a:normAutofit/>
          </a:bodyPr>
          <a:lstStyle/>
          <a:p>
            <a:pPr marL="0" marR="0" lvl="0" indent="0">
              <a:spcBef>
                <a:spcPts val="445"/>
              </a:spcBef>
              <a:spcAft>
                <a:spcPts val="0"/>
              </a:spcAft>
              <a:buSzPts val="1400"/>
              <a:buNone/>
              <a:tabLst>
                <a:tab pos="257810" algn="l"/>
              </a:tabLst>
            </a:pPr>
            <a:r>
              <a:rPr lang="en-US" sz="1800" b="1" spc="0" dirty="0">
                <a:effectLst/>
                <a:latin typeface="Times New Roman" panose="02020603050405020304" pitchFamily="18" charset="0"/>
                <a:ea typeface="Times New Roman" panose="02020603050405020304" pitchFamily="18" charset="0"/>
              </a:rPr>
              <a:t>DENSE</a:t>
            </a:r>
            <a:r>
              <a:rPr lang="en-US" sz="1800" b="1" spc="-10" dirty="0">
                <a:effectLst/>
                <a:latin typeface="Times New Roman" panose="02020603050405020304" pitchFamily="18" charset="0"/>
                <a:ea typeface="Times New Roman" panose="02020603050405020304" pitchFamily="18" charset="0"/>
              </a:rPr>
              <a:t> </a:t>
            </a:r>
            <a:r>
              <a:rPr lang="en-US" sz="1800" b="1" spc="0" dirty="0">
                <a:effectLst/>
                <a:latin typeface="Times New Roman" panose="02020603050405020304" pitchFamily="18" charset="0"/>
                <a:ea typeface="Times New Roman" panose="02020603050405020304" pitchFamily="18" charset="0"/>
              </a:rPr>
              <a:t>NETWORK</a:t>
            </a:r>
          </a:p>
          <a:p>
            <a:pPr marL="0" marR="0" algn="just">
              <a:lnSpc>
                <a:spcPct val="150000"/>
              </a:lnSpc>
              <a:spcBef>
                <a:spcPts val="15"/>
              </a:spcBef>
              <a:spcAft>
                <a:spcPts val="0"/>
              </a:spcAft>
            </a:pP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dense convolutional network (</a:t>
            </a:r>
            <a:r>
              <a:rPr lang="en-US" sz="1800" dirty="0" err="1">
                <a:effectLst/>
                <a:latin typeface="Times New Roman" panose="02020603050405020304" pitchFamily="18" charset="0"/>
                <a:ea typeface="Times New Roman" panose="02020603050405020304" pitchFamily="18" charset="0"/>
              </a:rPr>
              <a:t>DenseNet</a:t>
            </a:r>
            <a:r>
              <a:rPr lang="en-US" sz="1800" dirty="0">
                <a:effectLst/>
                <a:latin typeface="Times New Roman" panose="02020603050405020304" pitchFamily="18" charset="0"/>
                <a:ea typeface="Times New Roman" panose="02020603050405020304" pitchFamily="18" charset="0"/>
              </a:rPr>
              <a:t>) connects each layer to every other layer in 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feedforward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fashion.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Whereas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traditional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convolutional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networks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have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connections-one between each layer and its subsequent layer-our network has L(L+1)/2 direct</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connections.</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each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feature-maps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all</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preceding</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inputs,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its</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feature-maps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inputs into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all subsequent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layers. </a:t>
            </a:r>
            <a:r>
              <a:rPr lang="en-US" sz="1800" dirty="0" err="1">
                <a:effectLst/>
                <a:latin typeface="Times New Roman" panose="02020603050405020304" pitchFamily="18" charset="0"/>
                <a:ea typeface="Times New Roman" panose="02020603050405020304" pitchFamily="18" charset="0"/>
              </a:rPr>
              <a:t>DenseNets</a:t>
            </a:r>
            <a:r>
              <a:rPr lang="en-US" sz="1800" dirty="0">
                <a:effectLst/>
                <a:latin typeface="Times New Roman" panose="02020603050405020304" pitchFamily="18" charset="0"/>
                <a:ea typeface="Times New Roman" panose="02020603050405020304" pitchFamily="18" charset="0"/>
              </a:rPr>
              <a:t> have several compelling advantages: they alleviate the vanishing-gradient problem, strengthen feature propagation, encourage feature reuse, and substantially reduce the number of parameters. It was evaluated on four highly competitive object recognition benchmark tasks (CIFAR-10, CIFAR-100, SVHN, and ImageNet). </a:t>
            </a:r>
            <a:r>
              <a:rPr lang="en-US" sz="1800" dirty="0" err="1">
                <a:effectLst/>
                <a:latin typeface="Times New Roman" panose="02020603050405020304" pitchFamily="18" charset="0"/>
                <a:ea typeface="Times New Roman" panose="02020603050405020304" pitchFamily="18" charset="0"/>
              </a:rPr>
              <a:t>DenseNets</a:t>
            </a:r>
            <a:r>
              <a:rPr lang="en-US" sz="1800" dirty="0">
                <a:effectLst/>
                <a:latin typeface="Times New Roman" panose="02020603050405020304" pitchFamily="18" charset="0"/>
                <a:ea typeface="Times New Roman" panose="02020603050405020304" pitchFamily="18" charset="0"/>
              </a:rPr>
              <a:t> obtain significant improvements over the state-of-the-art on most of them, whilst requiring less computation to achieve high performance.</a:t>
            </a:r>
          </a:p>
          <a:p>
            <a:endParaRPr lang="en-US" dirty="0"/>
          </a:p>
        </p:txBody>
      </p:sp>
    </p:spTree>
    <p:extLst>
      <p:ext uri="{BB962C8B-B14F-4D97-AF65-F5344CB8AC3E}">
        <p14:creationId xmlns:p14="http://schemas.microsoft.com/office/powerpoint/2010/main" val="2461387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D92D-3626-4AAC-BDEA-E33EBA27E614}"/>
              </a:ext>
            </a:extLst>
          </p:cNvPr>
          <p:cNvSpPr>
            <a:spLocks noGrp="1"/>
          </p:cNvSpPr>
          <p:nvPr>
            <p:ph type="title"/>
          </p:nvPr>
        </p:nvSpPr>
        <p:spPr/>
        <p:txBody>
          <a:bodyPr/>
          <a:lstStyle/>
          <a:p>
            <a:r>
              <a:rPr lang="en-US" dirty="0"/>
              <a:t>Dense Network</a:t>
            </a:r>
          </a:p>
        </p:txBody>
      </p:sp>
      <p:pic>
        <p:nvPicPr>
          <p:cNvPr id="6" name="image5.jpeg">
            <a:extLst>
              <a:ext uri="{FF2B5EF4-FFF2-40B4-BE49-F238E27FC236}">
                <a16:creationId xmlns:a16="http://schemas.microsoft.com/office/drawing/2014/main" id="{FF7FA1B5-3968-4490-B435-8DAD8357447F}"/>
              </a:ext>
            </a:extLst>
          </p:cNvPr>
          <p:cNvPicPr>
            <a:picLocks noGrp="1" noChangeAspect="1"/>
          </p:cNvPicPr>
          <p:nvPr>
            <p:ph idx="1"/>
          </p:nvPr>
        </p:nvPicPr>
        <p:blipFill>
          <a:blip r:embed="rId2" cstate="print"/>
          <a:stretch>
            <a:fillRect/>
          </a:stretch>
        </p:blipFill>
        <p:spPr>
          <a:xfrm>
            <a:off x="1638300" y="2225041"/>
            <a:ext cx="8915400" cy="2895600"/>
          </a:xfrm>
          <a:prstGeom prst="rect">
            <a:avLst/>
          </a:prstGeom>
        </p:spPr>
      </p:pic>
    </p:spTree>
    <p:extLst>
      <p:ext uri="{BB962C8B-B14F-4D97-AF65-F5344CB8AC3E}">
        <p14:creationId xmlns:p14="http://schemas.microsoft.com/office/powerpoint/2010/main" val="3113637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488A-A28D-4C56-B466-2EBB8B63D337}"/>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Times New Roman" panose="02020603050405020304" pitchFamily="18" charset="0"/>
              </a:rPr>
              <a:t>DRAWBACKS</a:t>
            </a:r>
            <a:r>
              <a:rPr lang="en-US" sz="4000" b="1" spc="-15" dirty="0">
                <a:effectLst/>
                <a:latin typeface="Times New Roman" panose="02020603050405020304" pitchFamily="18" charset="0"/>
                <a:ea typeface="Times New Roman" panose="02020603050405020304" pitchFamily="18" charset="0"/>
              </a:rPr>
              <a:t> </a:t>
            </a:r>
            <a:r>
              <a:rPr lang="en-US" sz="4000" b="1" dirty="0">
                <a:effectLst/>
                <a:latin typeface="Times New Roman" panose="02020603050405020304" pitchFamily="18" charset="0"/>
                <a:ea typeface="Times New Roman" panose="02020603050405020304" pitchFamily="18" charset="0"/>
              </a:rPr>
              <a:t>OF</a:t>
            </a:r>
            <a:r>
              <a:rPr lang="en-US" sz="4000" b="1" spc="-25" dirty="0">
                <a:effectLst/>
                <a:latin typeface="Times New Roman" panose="02020603050405020304" pitchFamily="18" charset="0"/>
                <a:ea typeface="Times New Roman" panose="02020603050405020304" pitchFamily="18" charset="0"/>
              </a:rPr>
              <a:t> </a:t>
            </a:r>
            <a:r>
              <a:rPr lang="en-US" sz="4000" b="1" dirty="0">
                <a:effectLst/>
                <a:latin typeface="Times New Roman" panose="02020603050405020304" pitchFamily="18" charset="0"/>
                <a:ea typeface="Times New Roman" panose="02020603050405020304" pitchFamily="18" charset="0"/>
              </a:rPr>
              <a:t>EXISTING</a:t>
            </a:r>
            <a:r>
              <a:rPr lang="en-US" sz="4000" b="1" spc="-10" dirty="0">
                <a:effectLst/>
                <a:latin typeface="Times New Roman" panose="02020603050405020304" pitchFamily="18" charset="0"/>
                <a:ea typeface="Times New Roman" panose="02020603050405020304" pitchFamily="18" charset="0"/>
              </a:rPr>
              <a:t> </a:t>
            </a:r>
            <a:r>
              <a:rPr lang="en-US" sz="4000" b="1" dirty="0">
                <a:effectLst/>
                <a:latin typeface="Times New Roman" panose="02020603050405020304" pitchFamily="18" charset="0"/>
                <a:ea typeface="Times New Roman" panose="02020603050405020304" pitchFamily="18" charset="0"/>
              </a:rPr>
              <a:t>SYSTEM</a:t>
            </a:r>
            <a:endParaRPr lang="en-US" dirty="0"/>
          </a:p>
        </p:txBody>
      </p:sp>
      <p:sp>
        <p:nvSpPr>
          <p:cNvPr id="3" name="Content Placeholder 2">
            <a:extLst>
              <a:ext uri="{FF2B5EF4-FFF2-40B4-BE49-F238E27FC236}">
                <a16:creationId xmlns:a16="http://schemas.microsoft.com/office/drawing/2014/main" id="{9B56A8E4-7D16-4C79-AB6E-05520CF61A9C}"/>
              </a:ext>
            </a:extLst>
          </p:cNvPr>
          <p:cNvSpPr>
            <a:spLocks noGrp="1"/>
          </p:cNvSpPr>
          <p:nvPr>
            <p:ph idx="1"/>
          </p:nvPr>
        </p:nvSpPr>
        <p:spPr/>
        <p:txBody>
          <a:bodyPr/>
          <a:lstStyle/>
          <a:p>
            <a:pPr marL="63500" marR="0">
              <a:spcBef>
                <a:spcPts val="305"/>
              </a:spcBef>
              <a:spcAft>
                <a:spcPts val="0"/>
              </a:spcAft>
            </a:pPr>
            <a:r>
              <a:rPr lang="en-US" sz="1400" b="1" dirty="0">
                <a:effectLst/>
                <a:latin typeface="Times New Roman" panose="02020603050405020304" pitchFamily="18" charset="0"/>
                <a:ea typeface="Times New Roman" panose="02020603050405020304" pitchFamily="18" charset="0"/>
              </a:rPr>
              <a:t> </a:t>
            </a:r>
          </a:p>
          <a:p>
            <a:pPr marL="0" marR="0">
              <a:spcBef>
                <a:spcPts val="20"/>
              </a:spcBef>
              <a:spcAft>
                <a:spcPts val="0"/>
              </a:spcAft>
            </a:pPr>
            <a:r>
              <a:rPr lang="en-US" sz="1200" b="1" dirty="0">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450342" indent="-285750" algn="just">
              <a:lnSpc>
                <a:spcPct val="150000"/>
              </a:lnSpc>
              <a:spcBef>
                <a:spcPts val="0"/>
              </a:spcBef>
              <a:spcAft>
                <a:spcPts val="0"/>
              </a:spcAft>
              <a:buSzPts val="1200"/>
              <a:buFont typeface="Arial" panose="020B0604020202020204" pitchFamily="34" charset="0"/>
              <a:buChar char="•"/>
              <a:tabLst>
                <a:tab pos="521335" algn="l"/>
              </a:tabLst>
            </a:pPr>
            <a:r>
              <a:rPr lang="en-US" sz="1600" dirty="0">
                <a:effectLst/>
                <a:latin typeface="Times New Roman" panose="02020603050405020304" pitchFamily="18" charset="0"/>
                <a:ea typeface="Times New Roman" panose="02020603050405020304" pitchFamily="18" charset="0"/>
              </a:rPr>
              <a:t>The above-mentioned models fail to address key problems related to image super</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resolution</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 image</a:t>
            </a:r>
            <a:r>
              <a:rPr lang="en-US" sz="1600" spc="-1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denoising.</a:t>
            </a:r>
          </a:p>
          <a:p>
            <a:pPr marL="450342" indent="-285750" algn="just">
              <a:lnSpc>
                <a:spcPct val="150000"/>
              </a:lnSpc>
              <a:spcBef>
                <a:spcPts val="0"/>
              </a:spcBef>
              <a:spcAft>
                <a:spcPts val="0"/>
              </a:spcAft>
              <a:buSzPts val="1200"/>
              <a:buFont typeface="Arial" panose="020B0604020202020204" pitchFamily="34" charset="0"/>
              <a:buChar char="•"/>
              <a:tabLst>
                <a:tab pos="521335" algn="l"/>
              </a:tabLst>
            </a:pPr>
            <a:r>
              <a:rPr lang="en-US" sz="1600" dirty="0">
                <a:effectLst/>
                <a:latin typeface="Times New Roman" panose="02020603050405020304" pitchFamily="18" charset="0"/>
                <a:ea typeface="Times New Roman" panose="02020603050405020304" pitchFamily="18" charset="0"/>
              </a:rPr>
              <a:t>The depth of </a:t>
            </a:r>
            <a:r>
              <a:rPr lang="en-US" sz="1600" dirty="0" err="1">
                <a:effectLst/>
                <a:latin typeface="Times New Roman" panose="02020603050405020304" pitchFamily="18" charset="0"/>
                <a:ea typeface="Times New Roman" panose="02020603050405020304" pitchFamily="18" charset="0"/>
              </a:rPr>
              <a:t>AlexNet</a:t>
            </a:r>
            <a:r>
              <a:rPr lang="en-US" sz="1600" dirty="0">
                <a:effectLst/>
                <a:latin typeface="Times New Roman" panose="02020603050405020304" pitchFamily="18" charset="0"/>
                <a:ea typeface="Times New Roman" panose="02020603050405020304" pitchFamily="18" charset="0"/>
              </a:rPr>
              <a:t> model is very less and hence it struggles to learn features from</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image sets. We can observe that it takes more time to achieve higher accuracy results</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compared</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 other models.</a:t>
            </a:r>
          </a:p>
          <a:p>
            <a:pPr marL="450342" indent="-285750" algn="just">
              <a:lnSpc>
                <a:spcPct val="150000"/>
              </a:lnSpc>
              <a:spcBef>
                <a:spcPts val="0"/>
              </a:spcBef>
              <a:spcAft>
                <a:spcPts val="0"/>
              </a:spcAft>
              <a:buSzPts val="1200"/>
              <a:buFont typeface="Arial" panose="020B0604020202020204" pitchFamily="34" charset="0"/>
              <a:buChar char="•"/>
              <a:tabLst>
                <a:tab pos="521335" algn="l"/>
              </a:tabLst>
            </a:pPr>
            <a:r>
              <a:rPr lang="en-US" sz="1600" dirty="0">
                <a:effectLst/>
                <a:latin typeface="Times New Roman" panose="02020603050405020304" pitchFamily="18" charset="0"/>
                <a:ea typeface="Times New Roman" panose="02020603050405020304" pitchFamily="18" charset="0"/>
              </a:rPr>
              <a:t>Inception Network have sometimes use convolutions such as </a:t>
            </a:r>
            <a:r>
              <a:rPr lang="en-US" sz="1600" i="1" dirty="0">
                <a:effectLst/>
                <a:latin typeface="Times New Roman" panose="02020603050405020304" pitchFamily="18" charset="0"/>
                <a:ea typeface="Times New Roman" panose="02020603050405020304" pitchFamily="18" charset="0"/>
              </a:rPr>
              <a:t>5*</a:t>
            </a:r>
            <a:r>
              <a:rPr lang="en-US" sz="1600" dirty="0">
                <a:effectLst/>
                <a:latin typeface="Times New Roman" panose="02020603050405020304" pitchFamily="18" charset="0"/>
                <a:ea typeface="Times New Roman" panose="02020603050405020304" pitchFamily="18" charset="0"/>
              </a:rPr>
              <a:t>5 that causes the input</a:t>
            </a:r>
            <a:r>
              <a:rPr lang="en-US" sz="1600" spc="-28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dimensions</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decrease</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by</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large</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margin.</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This</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causes</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neural</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network</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uses</a:t>
            </a:r>
            <a:r>
              <a:rPr lang="en-US" sz="1600" spc="-2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some</a:t>
            </a:r>
            <a:r>
              <a:rPr lang="en-US" sz="1600" spc="-29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accuracy</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decrease.</a:t>
            </a:r>
          </a:p>
          <a:p>
            <a:pPr marL="450342" indent="-285750" algn="just">
              <a:lnSpc>
                <a:spcPct val="150000"/>
              </a:lnSpc>
              <a:spcBef>
                <a:spcPts val="0"/>
              </a:spcBef>
              <a:spcAft>
                <a:spcPts val="0"/>
              </a:spcAft>
              <a:buSzPts val="1200"/>
              <a:buFont typeface="Arial" panose="020B0604020202020204" pitchFamily="34" charset="0"/>
              <a:buChar char="•"/>
              <a:tabLst>
                <a:tab pos="521335" algn="l"/>
              </a:tabLst>
            </a:pPr>
            <a:r>
              <a:rPr lang="en-US" sz="1600" dirty="0" err="1">
                <a:effectLst/>
                <a:latin typeface="Times New Roman" panose="02020603050405020304" pitchFamily="18" charset="0"/>
                <a:ea typeface="Times New Roman" panose="02020603050405020304" pitchFamily="18" charset="0"/>
              </a:rPr>
              <a:t>Resnets</a:t>
            </a:r>
            <a:r>
              <a:rPr lang="en-US" sz="1600" dirty="0">
                <a:effectLst/>
                <a:latin typeface="Times New Roman" panose="02020603050405020304" pitchFamily="18" charset="0"/>
                <a:ea typeface="Times New Roman" panose="02020603050405020304" pitchFamily="18" charset="0"/>
              </a:rPr>
              <a:t> include adding skip level connections for which you have taken into account</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dimensionality between the</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different layers which</a:t>
            </a:r>
            <a:r>
              <a:rPr lang="en-US" sz="1600" spc="-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can become a</a:t>
            </a:r>
            <a:r>
              <a:rPr lang="en-US" sz="1600" spc="-1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headache.</a:t>
            </a:r>
          </a:p>
          <a:p>
            <a:endParaRPr lang="en-US" dirty="0"/>
          </a:p>
        </p:txBody>
      </p:sp>
    </p:spTree>
    <p:extLst>
      <p:ext uri="{BB962C8B-B14F-4D97-AF65-F5344CB8AC3E}">
        <p14:creationId xmlns:p14="http://schemas.microsoft.com/office/powerpoint/2010/main" val="4052266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022E-81FB-4E24-84E3-6973EC70DEFC}"/>
              </a:ext>
            </a:extLst>
          </p:cNvPr>
          <p:cNvSpPr>
            <a:spLocks noGrp="1"/>
          </p:cNvSpPr>
          <p:nvPr>
            <p:ph type="title"/>
          </p:nvPr>
        </p:nvSpPr>
        <p:spPr/>
        <p:txBody>
          <a:bodyPr/>
          <a:lstStyle/>
          <a:p>
            <a:r>
              <a:rPr lang="en-US" sz="4000" b="1" dirty="0">
                <a:effectLst/>
                <a:latin typeface="Times New Roman" panose="02020603050405020304" pitchFamily="18" charset="0"/>
                <a:ea typeface="Times New Roman" panose="02020603050405020304" pitchFamily="18" charset="0"/>
              </a:rPr>
              <a:t>PROPOSED SYSTEM</a:t>
            </a:r>
            <a:endParaRPr lang="en-US" dirty="0"/>
          </a:p>
        </p:txBody>
      </p:sp>
      <p:sp>
        <p:nvSpPr>
          <p:cNvPr id="3" name="Content Placeholder 2">
            <a:extLst>
              <a:ext uri="{FF2B5EF4-FFF2-40B4-BE49-F238E27FC236}">
                <a16:creationId xmlns:a16="http://schemas.microsoft.com/office/drawing/2014/main" id="{222D0B5C-2DF2-48FE-8CE4-38567370221F}"/>
              </a:ext>
            </a:extLst>
          </p:cNvPr>
          <p:cNvSpPr>
            <a:spLocks noGrp="1"/>
          </p:cNvSpPr>
          <p:nvPr>
            <p:ph idx="1"/>
          </p:nvPr>
        </p:nvSpPr>
        <p:spPr/>
        <p:txBody>
          <a:bodyPr>
            <a:normAutofit fontScale="92500" lnSpcReduction="20000"/>
          </a:bodyPr>
          <a:lstStyle/>
          <a:p>
            <a:pPr marL="342900" marR="0" lvl="0" indent="-342900" algn="just">
              <a:lnSpc>
                <a:spcPct val="150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We propose Restructured Residual Dense Network (RRDN) to solve the problem of crop leaf disease identification. As the original model was used in image super resolution, the input images have no dimension reduction operation, which may work well in a single block. </a:t>
            </a:r>
          </a:p>
          <a:p>
            <a:pPr marL="342900" marR="0" lvl="0" indent="-342900" algn="just">
              <a:lnSpc>
                <a:spcPct val="150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But in the image classification task, tens of thousands of images are input, which will require considerably more computing resources, as well as low efficiency. </a:t>
            </a:r>
          </a:p>
          <a:p>
            <a:pPr marL="342900" marR="0" lvl="0" indent="-342900" algn="just">
              <a:lnSpc>
                <a:spcPct val="150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So, the input image is convolved first in Res-Dense-Block (RDB)and the tensor is batch normalized after the convolution in the RDB block.</a:t>
            </a:r>
          </a:p>
          <a:p>
            <a:pPr marL="342900" marR="0" lvl="0" indent="-342900" algn="just">
              <a:lnSpc>
                <a:spcPct val="150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In this experiment, the input size of the tensor is 196</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196</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64, then input the 3-layer RDB for feature extraction. Then the output size is 98</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98</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64, which can be used for residual added.</a:t>
            </a:r>
          </a:p>
          <a:p>
            <a:pPr marL="342900" marR="0" lvl="0" indent="-342900" algn="just">
              <a:lnSpc>
                <a:spcPct val="150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 After that, the block output by the 3-layer RDB and the initial input tensor create the residual connection operation and output a new tensor.</a:t>
            </a:r>
          </a:p>
          <a:p>
            <a:endParaRPr lang="en-US" dirty="0"/>
          </a:p>
        </p:txBody>
      </p:sp>
    </p:spTree>
    <p:extLst>
      <p:ext uri="{BB962C8B-B14F-4D97-AF65-F5344CB8AC3E}">
        <p14:creationId xmlns:p14="http://schemas.microsoft.com/office/powerpoint/2010/main" val="2453063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905DAAD-DBB5-4995-97E2-E402E1795654}"/>
              </a:ext>
            </a:extLst>
          </p:cNvPr>
          <p:cNvPicPr>
            <a:picLocks noGrp="1" noChangeAspect="1"/>
          </p:cNvPicPr>
          <p:nvPr>
            <p:ph idx="4294967295"/>
          </p:nvPr>
        </p:nvPicPr>
        <p:blipFill>
          <a:blip r:embed="rId2"/>
          <a:stretch>
            <a:fillRect/>
          </a:stretch>
        </p:blipFill>
        <p:spPr>
          <a:xfrm>
            <a:off x="4564602" y="825624"/>
            <a:ext cx="3062796" cy="4643870"/>
          </a:xfrm>
          <a:prstGeom prst="rect">
            <a:avLst/>
          </a:prstGeom>
        </p:spPr>
      </p:pic>
    </p:spTree>
    <p:extLst>
      <p:ext uri="{BB962C8B-B14F-4D97-AF65-F5344CB8AC3E}">
        <p14:creationId xmlns:p14="http://schemas.microsoft.com/office/powerpoint/2010/main" val="837853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856BB4-A9E5-408F-86B4-D30BE4F86C00}"/>
              </a:ext>
            </a:extLst>
          </p:cNvPr>
          <p:cNvPicPr>
            <a:picLocks noChangeAspect="1"/>
          </p:cNvPicPr>
          <p:nvPr/>
        </p:nvPicPr>
        <p:blipFill>
          <a:blip r:embed="rId2"/>
          <a:stretch>
            <a:fillRect/>
          </a:stretch>
        </p:blipFill>
        <p:spPr>
          <a:xfrm>
            <a:off x="1037799" y="682804"/>
            <a:ext cx="2499360" cy="2491740"/>
          </a:xfrm>
          <a:prstGeom prst="rect">
            <a:avLst/>
          </a:prstGeom>
        </p:spPr>
      </p:pic>
      <p:pic>
        <p:nvPicPr>
          <p:cNvPr id="3" name="Picture 2">
            <a:extLst>
              <a:ext uri="{FF2B5EF4-FFF2-40B4-BE49-F238E27FC236}">
                <a16:creationId xmlns:a16="http://schemas.microsoft.com/office/drawing/2014/main" id="{E802CD71-8537-44A4-882C-1444204EF267}"/>
              </a:ext>
            </a:extLst>
          </p:cNvPr>
          <p:cNvPicPr>
            <a:picLocks noChangeAspect="1"/>
          </p:cNvPicPr>
          <p:nvPr/>
        </p:nvPicPr>
        <p:blipFill>
          <a:blip r:embed="rId3"/>
          <a:stretch>
            <a:fillRect/>
          </a:stretch>
        </p:blipFill>
        <p:spPr>
          <a:xfrm>
            <a:off x="8430236" y="107494"/>
            <a:ext cx="2590800" cy="3642360"/>
          </a:xfrm>
          <a:prstGeom prst="rect">
            <a:avLst/>
          </a:prstGeom>
        </p:spPr>
      </p:pic>
      <p:pic>
        <p:nvPicPr>
          <p:cNvPr id="4" name="image6.jpeg">
            <a:extLst>
              <a:ext uri="{FF2B5EF4-FFF2-40B4-BE49-F238E27FC236}">
                <a16:creationId xmlns:a16="http://schemas.microsoft.com/office/drawing/2014/main" id="{7C72BD12-BAA8-4D9C-A7BA-8E38293B4F04}"/>
              </a:ext>
            </a:extLst>
          </p:cNvPr>
          <p:cNvPicPr>
            <a:picLocks noChangeAspect="1"/>
          </p:cNvPicPr>
          <p:nvPr/>
        </p:nvPicPr>
        <p:blipFill>
          <a:blip r:embed="rId4" cstate="print"/>
          <a:stretch>
            <a:fillRect/>
          </a:stretch>
        </p:blipFill>
        <p:spPr>
          <a:xfrm>
            <a:off x="2420644" y="3978275"/>
            <a:ext cx="5897880" cy="1942465"/>
          </a:xfrm>
          <a:prstGeom prst="rect">
            <a:avLst/>
          </a:prstGeom>
        </p:spPr>
      </p:pic>
    </p:spTree>
    <p:extLst>
      <p:ext uri="{BB962C8B-B14F-4D97-AF65-F5344CB8AC3E}">
        <p14:creationId xmlns:p14="http://schemas.microsoft.com/office/powerpoint/2010/main" val="1638890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20E1-E8E5-4308-BB5E-CA0D7025F1A0}"/>
              </a:ext>
            </a:extLst>
          </p:cNvPr>
          <p:cNvSpPr>
            <a:spLocks noGrp="1"/>
          </p:cNvSpPr>
          <p:nvPr>
            <p:ph type="title"/>
          </p:nvPr>
        </p:nvSpPr>
        <p:spPr/>
        <p:txBody>
          <a:bodyPr/>
          <a:lstStyle/>
          <a:p>
            <a:r>
              <a:rPr lang="en-US" sz="3200" b="1" dirty="0">
                <a:effectLst/>
                <a:latin typeface="Times New Roman" panose="02020603050405020304" pitchFamily="18" charset="0"/>
                <a:ea typeface="Times New Roman" panose="02020603050405020304" pitchFamily="18" charset="0"/>
              </a:rPr>
              <a:t>METHODOLOGIES</a:t>
            </a:r>
            <a:endParaRPr lang="en-US" dirty="0"/>
          </a:p>
        </p:txBody>
      </p:sp>
      <p:sp>
        <p:nvSpPr>
          <p:cNvPr id="3" name="Content Placeholder 2">
            <a:extLst>
              <a:ext uri="{FF2B5EF4-FFF2-40B4-BE49-F238E27FC236}">
                <a16:creationId xmlns:a16="http://schemas.microsoft.com/office/drawing/2014/main" id="{72742CD3-0258-4667-9679-E8E7E7DC09D0}"/>
              </a:ext>
            </a:extLst>
          </p:cNvPr>
          <p:cNvSpPr>
            <a:spLocks noGrp="1"/>
          </p:cNvSpPr>
          <p:nvPr>
            <p:ph idx="1"/>
          </p:nvPr>
        </p:nvSpPr>
        <p:spPr/>
        <p:txBody>
          <a:bodyPr/>
          <a:lstStyle/>
          <a:p>
            <a:pPr marL="0" marR="0">
              <a:spcBef>
                <a:spcPts val="680"/>
              </a:spcBef>
              <a:spcAft>
                <a:spcPts val="0"/>
              </a:spcAft>
              <a:tabLst>
                <a:tab pos="558800" algn="l"/>
                <a:tab pos="559435" algn="l"/>
              </a:tabLst>
            </a:pPr>
            <a:r>
              <a:rPr lang="en-US" sz="1800" dirty="0">
                <a:effectLst/>
                <a:latin typeface="Times New Roman" panose="02020603050405020304" pitchFamily="18" charset="0"/>
                <a:ea typeface="Times New Roman" panose="02020603050405020304" pitchFamily="18" charset="0"/>
              </a:rPr>
              <a:t>There are various modules involved in process of classify tomato leaf disease leaves. The modules are listed below:</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Dataset</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Pre-processing</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Data Partition</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Constructing RRDN</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Defining Activation and Loss Functions</a:t>
            </a:r>
          </a:p>
          <a:p>
            <a:pPr marL="342900" marR="0" lvl="0" indent="-342900">
              <a:spcBef>
                <a:spcPts val="680"/>
              </a:spcBef>
              <a:spcAft>
                <a:spcPts val="0"/>
              </a:spcAft>
              <a:buFont typeface="Symbol" panose="05050102010706020507" pitchFamily="18" charset="2"/>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Evaluation</a:t>
            </a:r>
          </a:p>
          <a:p>
            <a:endParaRPr lang="en-US" dirty="0"/>
          </a:p>
        </p:txBody>
      </p:sp>
    </p:spTree>
    <p:extLst>
      <p:ext uri="{BB962C8B-B14F-4D97-AF65-F5344CB8AC3E}">
        <p14:creationId xmlns:p14="http://schemas.microsoft.com/office/powerpoint/2010/main" val="3098633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02621-2D7B-424A-A6E4-782CB843BB74}"/>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rPr>
              <a:t>DATASET</a:t>
            </a:r>
            <a:endParaRPr lang="en-US" dirty="0"/>
          </a:p>
        </p:txBody>
      </p:sp>
      <p:sp>
        <p:nvSpPr>
          <p:cNvPr id="3" name="Content Placeholder 2">
            <a:extLst>
              <a:ext uri="{FF2B5EF4-FFF2-40B4-BE49-F238E27FC236}">
                <a16:creationId xmlns:a16="http://schemas.microsoft.com/office/drawing/2014/main" id="{7B654250-AD85-4E31-9D1D-0C0385A5EC44}"/>
              </a:ext>
            </a:extLst>
          </p:cNvPr>
          <p:cNvSpPr>
            <a:spLocks noGrp="1"/>
          </p:cNvSpPr>
          <p:nvPr>
            <p:ph idx="1"/>
          </p:nvPr>
        </p:nvSpPr>
        <p:spPr>
          <a:xfrm>
            <a:off x="1168302" y="1827979"/>
            <a:ext cx="10058400" cy="4023360"/>
          </a:xfrm>
        </p:spPr>
        <p:txBody>
          <a:bodyPr/>
          <a:lstStyle/>
          <a:p>
            <a:pPr marR="0" lvl="0">
              <a:lnSpc>
                <a:spcPct val="150000"/>
              </a:lnSpc>
              <a:spcBef>
                <a:spcPts val="680"/>
              </a:spcBef>
              <a:spcAft>
                <a:spcPts val="0"/>
              </a:spcAft>
              <a:buFont typeface="Arial" panose="020B0604020202020204" pitchFamily="34" charset="0"/>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The tomato leaf diseases dataset in AI CHALLENGER is used for this experiment, which includes 13,185 images within 9 classes.</a:t>
            </a:r>
          </a:p>
          <a:p>
            <a:pPr marR="0" lvl="0">
              <a:lnSpc>
                <a:spcPct val="150000"/>
              </a:lnSpc>
              <a:spcBef>
                <a:spcPts val="680"/>
              </a:spcBef>
              <a:spcAft>
                <a:spcPts val="0"/>
              </a:spcAft>
              <a:buFont typeface="Arial" panose="020B0604020202020204" pitchFamily="34" charset="0"/>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The images are the same size of 196</a:t>
            </a:r>
            <a:r>
              <a:rPr lang="en-US" sz="1800" dirty="0">
                <a:effectLst/>
                <a:latin typeface="Cambria Math" panose="02040503050406030204" pitchFamily="18" charset="0"/>
                <a:ea typeface="Times New Roman" panose="02020603050405020304" pitchFamily="18" charset="0"/>
                <a:cs typeface="Cambria Math" panose="02040503050406030204" pitchFamily="18" charset="0"/>
              </a:rPr>
              <a:t>∗</a:t>
            </a:r>
            <a:r>
              <a:rPr lang="en-US" sz="1800" dirty="0">
                <a:effectLst/>
                <a:latin typeface="Times New Roman" panose="02020603050405020304" pitchFamily="18" charset="0"/>
                <a:ea typeface="Times New Roman" panose="02020603050405020304" pitchFamily="18" charset="0"/>
              </a:rPr>
              <a:t>196 pixels.</a:t>
            </a:r>
          </a:p>
          <a:p>
            <a:pPr marR="0" lvl="0">
              <a:lnSpc>
                <a:spcPct val="150000"/>
              </a:lnSpc>
              <a:spcBef>
                <a:spcPts val="680"/>
              </a:spcBef>
              <a:spcAft>
                <a:spcPts val="0"/>
              </a:spcAft>
              <a:buFont typeface="Arial" panose="020B0604020202020204" pitchFamily="34" charset="0"/>
              <a:buChar char="•"/>
              <a:tabLst>
                <a:tab pos="558800" algn="l"/>
                <a:tab pos="559435" algn="l"/>
              </a:tabLst>
            </a:pPr>
            <a:r>
              <a:rPr lang="en-US" sz="1800" dirty="0">
                <a:effectLst/>
                <a:latin typeface="Times New Roman" panose="02020603050405020304" pitchFamily="18" charset="0"/>
                <a:ea typeface="Times New Roman" panose="02020603050405020304" pitchFamily="18" charset="0"/>
              </a:rPr>
              <a:t>The class details are shown in table below. </a:t>
            </a:r>
          </a:p>
          <a:p>
            <a:endParaRPr lang="en-US" dirty="0"/>
          </a:p>
        </p:txBody>
      </p:sp>
      <p:pic>
        <p:nvPicPr>
          <p:cNvPr id="4" name="Picture 3">
            <a:extLst>
              <a:ext uri="{FF2B5EF4-FFF2-40B4-BE49-F238E27FC236}">
                <a16:creationId xmlns:a16="http://schemas.microsoft.com/office/drawing/2014/main" id="{0861C9A7-18EB-4966-B91F-D56C7FE4982C}"/>
              </a:ext>
            </a:extLst>
          </p:cNvPr>
          <p:cNvPicPr>
            <a:picLocks noChangeAspect="1"/>
          </p:cNvPicPr>
          <p:nvPr/>
        </p:nvPicPr>
        <p:blipFill>
          <a:blip r:embed="rId2"/>
          <a:stretch>
            <a:fillRect/>
          </a:stretch>
        </p:blipFill>
        <p:spPr>
          <a:xfrm>
            <a:off x="3814438" y="3755253"/>
            <a:ext cx="4563123" cy="2573895"/>
          </a:xfrm>
          <a:prstGeom prst="rect">
            <a:avLst/>
          </a:prstGeom>
        </p:spPr>
      </p:pic>
    </p:spTree>
    <p:extLst>
      <p:ext uri="{BB962C8B-B14F-4D97-AF65-F5344CB8AC3E}">
        <p14:creationId xmlns:p14="http://schemas.microsoft.com/office/powerpoint/2010/main" val="1467242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FF4D8A8-E848-4668-B3C8-747DBB5D72BE}"/>
              </a:ext>
            </a:extLst>
          </p:cNvPr>
          <p:cNvPicPr>
            <a:picLocks noGrp="1" noChangeAspect="1"/>
          </p:cNvPicPr>
          <p:nvPr>
            <p:ph idx="4294967295"/>
          </p:nvPr>
        </p:nvPicPr>
        <p:blipFill>
          <a:blip r:embed="rId2"/>
          <a:stretch>
            <a:fillRect/>
          </a:stretch>
        </p:blipFill>
        <p:spPr>
          <a:xfrm>
            <a:off x="3321729" y="1269507"/>
            <a:ext cx="5548542" cy="4909350"/>
          </a:xfrm>
          <a:prstGeom prst="rect">
            <a:avLst/>
          </a:prstGeom>
        </p:spPr>
      </p:pic>
      <p:sp>
        <p:nvSpPr>
          <p:cNvPr id="6" name="TextBox 5">
            <a:extLst>
              <a:ext uri="{FF2B5EF4-FFF2-40B4-BE49-F238E27FC236}">
                <a16:creationId xmlns:a16="http://schemas.microsoft.com/office/drawing/2014/main" id="{AF3FDE62-1585-459B-9F13-EE0EF56AA2B4}"/>
              </a:ext>
            </a:extLst>
          </p:cNvPr>
          <p:cNvSpPr txBox="1"/>
          <p:nvPr/>
        </p:nvSpPr>
        <p:spPr>
          <a:xfrm>
            <a:off x="1138561" y="992508"/>
            <a:ext cx="6094520" cy="338554"/>
          </a:xfrm>
          <a:prstGeom prst="rect">
            <a:avLst/>
          </a:prstGeom>
          <a:noFill/>
        </p:spPr>
        <p:txBody>
          <a:bodyPr wrap="square">
            <a:spAutoFit/>
          </a:bodyPr>
          <a:lstStyle/>
          <a:p>
            <a:r>
              <a:rPr lang="en-US" sz="1600" dirty="0">
                <a:effectLst/>
                <a:latin typeface="Times New Roman" panose="02020603050405020304" pitchFamily="18" charset="0"/>
                <a:ea typeface="Times New Roman" panose="02020603050405020304" pitchFamily="18" charset="0"/>
              </a:rPr>
              <a:t>Part of the tomato leaf disease images is shown in the figure below</a:t>
            </a:r>
            <a:endParaRPr lang="en-US" sz="2400" dirty="0"/>
          </a:p>
        </p:txBody>
      </p:sp>
    </p:spTree>
    <p:extLst>
      <p:ext uri="{BB962C8B-B14F-4D97-AF65-F5344CB8AC3E}">
        <p14:creationId xmlns:p14="http://schemas.microsoft.com/office/powerpoint/2010/main" val="3676628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932C-2EA1-4E92-BEAC-E4235F8008E6}"/>
              </a:ext>
            </a:extLst>
          </p:cNvPr>
          <p:cNvSpPr>
            <a:spLocks noGrp="1"/>
          </p:cNvSpPr>
          <p:nvPr>
            <p:ph type="title"/>
          </p:nvPr>
        </p:nvSpPr>
        <p:spPr/>
        <p:txBody>
          <a:bodyPr/>
          <a:lstStyle/>
          <a:p>
            <a:br>
              <a:rPr lang="en-US" sz="2400" b="1" kern="0" dirty="0">
                <a:effectLst/>
                <a:latin typeface="Times New Roman" panose="02020603050405020304" pitchFamily="18" charset="0"/>
                <a:ea typeface="Times New Roman" panose="02020603050405020304" pitchFamily="18" charset="0"/>
              </a:rPr>
            </a:br>
            <a:br>
              <a:rPr lang="en-US" sz="1200" b="1" kern="0" dirty="0">
                <a:effectLst/>
                <a:latin typeface="Times New Roman" panose="02020603050405020304" pitchFamily="18" charset="0"/>
                <a:ea typeface="Times New Roman" panose="02020603050405020304" pitchFamily="18" charset="0"/>
              </a:rPr>
            </a:br>
            <a:r>
              <a:rPr lang="en-US" sz="3600" b="1" kern="0" dirty="0">
                <a:effectLst/>
                <a:latin typeface="Times New Roman" panose="02020603050405020304" pitchFamily="18" charset="0"/>
                <a:ea typeface="Times New Roman" panose="02020603050405020304" pitchFamily="18" charset="0"/>
              </a:rPr>
              <a:t>FUTURE</a:t>
            </a:r>
            <a:r>
              <a:rPr lang="en-US" sz="3600" b="1" kern="0" spc="-10" dirty="0">
                <a:effectLst/>
                <a:latin typeface="Times New Roman" panose="02020603050405020304" pitchFamily="18" charset="0"/>
                <a:ea typeface="Times New Roman" panose="02020603050405020304" pitchFamily="18" charset="0"/>
              </a:rPr>
              <a:t> </a:t>
            </a:r>
            <a:r>
              <a:rPr lang="en-US" sz="3600" b="1" kern="0" dirty="0">
                <a:effectLst/>
                <a:latin typeface="Times New Roman" panose="02020603050405020304" pitchFamily="18" charset="0"/>
                <a:ea typeface="Times New Roman" panose="02020603050405020304" pitchFamily="18" charset="0"/>
              </a:rPr>
              <a:t>ENHANCEMENTS</a:t>
            </a:r>
            <a:endParaRPr lang="en-US" dirty="0"/>
          </a:p>
        </p:txBody>
      </p:sp>
      <p:sp>
        <p:nvSpPr>
          <p:cNvPr id="3" name="Content Placeholder 2">
            <a:extLst>
              <a:ext uri="{FF2B5EF4-FFF2-40B4-BE49-F238E27FC236}">
                <a16:creationId xmlns:a16="http://schemas.microsoft.com/office/drawing/2014/main" id="{DCB892AE-A9DB-447F-B2AC-8DE846B4EDAD}"/>
              </a:ext>
            </a:extLst>
          </p:cNvPr>
          <p:cNvSpPr>
            <a:spLocks noGrp="1"/>
          </p:cNvSpPr>
          <p:nvPr>
            <p:ph idx="1"/>
          </p:nvPr>
        </p:nvSpPr>
        <p:spPr/>
        <p:txBody>
          <a:bodyPr>
            <a:normAutofit/>
          </a:bodyPr>
          <a:lstStyle/>
          <a:p>
            <a:pPr>
              <a:lnSpc>
                <a:spcPct val="150000"/>
              </a:lnSpc>
            </a:pPr>
            <a:r>
              <a:rPr lang="en-US" dirty="0">
                <a:effectLst/>
                <a:latin typeface="Times New Roman" panose="02020603050405020304" pitchFamily="18" charset="0"/>
                <a:ea typeface="Times New Roman" panose="02020603050405020304" pitchFamily="18" charset="0"/>
              </a:rPr>
              <a:t>This project proposes a residual dense network-based tomato leaf disease identification model; this inspiration comes from RDN in the image super resolution task. By adjusting the model architecture, we transformed it into a classification model, which obtained a higher accuracy than state-of-the-art models. Because this model is suitable for the tomato dataset, we will attempt to perform transfer learning from the tomato dataset to other plants through the model adjustment to improve the generalization ability. In the future, we hope to apply this work in practical work to make a small contribution to developing agricultural intelligence.</a:t>
            </a:r>
            <a:endParaRPr lang="en-US" sz="2400" dirty="0"/>
          </a:p>
        </p:txBody>
      </p:sp>
    </p:spTree>
    <p:extLst>
      <p:ext uri="{BB962C8B-B14F-4D97-AF65-F5344CB8AC3E}">
        <p14:creationId xmlns:p14="http://schemas.microsoft.com/office/powerpoint/2010/main" val="936963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5E57-CC46-4107-88CB-0BD3679BB1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9FE0EC5-58F1-4BDF-A315-AAE52A11746E}"/>
              </a:ext>
            </a:extLst>
          </p:cNvPr>
          <p:cNvSpPr>
            <a:spLocks noGrp="1"/>
          </p:cNvSpPr>
          <p:nvPr>
            <p:ph idx="1"/>
          </p:nvPr>
        </p:nvSpPr>
        <p:spPr/>
        <p:txBody>
          <a:bodyPr/>
          <a:lstStyle/>
          <a:p>
            <a:pPr>
              <a:lnSpc>
                <a:spcPct val="150000"/>
              </a:lnSpc>
            </a:pPr>
            <a:r>
              <a:rPr lang="en-US" sz="1800" dirty="0">
                <a:effectLst/>
                <a:latin typeface="Times New Roman" panose="02020603050405020304" pitchFamily="18" charset="0"/>
                <a:ea typeface="Times New Roman" panose="02020603050405020304" pitchFamily="18" charset="0"/>
              </a:rPr>
              <a:t>Tomato</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very</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popular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food</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worldwide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food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seasoning;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necessities</a:t>
            </a:r>
            <a:r>
              <a:rPr lang="en-US" sz="1800" spc="-28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life. Even for entertainment. The ‘‘Tomatina’’ held each year on the last Wednesday 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August</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originated</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Spain</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where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tens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thousands</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revelers</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from</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around</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world</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pelt</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each</a:t>
            </a:r>
            <a:r>
              <a:rPr lang="en-US" sz="1800" spc="-29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other with tons of tomatoes. To produce better quality tomatoes, people must overcome 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problem of plant diseases. Generally, plant diseases appear on the leaves first, which makes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leaf disease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identification particularly important.</a:t>
            </a:r>
          </a:p>
          <a:p>
            <a:endParaRPr lang="en-US" dirty="0"/>
          </a:p>
        </p:txBody>
      </p:sp>
    </p:spTree>
    <p:extLst>
      <p:ext uri="{BB962C8B-B14F-4D97-AF65-F5344CB8AC3E}">
        <p14:creationId xmlns:p14="http://schemas.microsoft.com/office/powerpoint/2010/main" val="2823391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A1A9CC-0854-4A0E-AD08-3E08AE36CB81}"/>
              </a:ext>
            </a:extLst>
          </p:cNvPr>
          <p:cNvSpPr>
            <a:spLocks noGrp="1"/>
          </p:cNvSpPr>
          <p:nvPr>
            <p:ph type="title" idx="4294967295"/>
          </p:nvPr>
        </p:nvSpPr>
        <p:spPr>
          <a:xfrm>
            <a:off x="969146" y="3066256"/>
            <a:ext cx="10058400" cy="725487"/>
          </a:xfrm>
        </p:spPr>
        <p:txBody>
          <a:bodyPr/>
          <a:lstStyle/>
          <a:p>
            <a:pPr algn="ctr"/>
            <a:r>
              <a:rPr lang="en-US" dirty="0"/>
              <a:t>Thank You😃</a:t>
            </a:r>
          </a:p>
        </p:txBody>
      </p:sp>
    </p:spTree>
    <p:extLst>
      <p:ext uri="{BB962C8B-B14F-4D97-AF65-F5344CB8AC3E}">
        <p14:creationId xmlns:p14="http://schemas.microsoft.com/office/powerpoint/2010/main" val="337228554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35</TotalTime>
  <Words>2470</Words>
  <Application>Microsoft Office PowerPoint</Application>
  <PresentationFormat>Widescreen</PresentationFormat>
  <Paragraphs>114</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Cambria Math</vt:lpstr>
      <vt:lpstr>Symbol</vt:lpstr>
      <vt:lpstr>Times New Roman</vt:lpstr>
      <vt:lpstr>Retrospect</vt:lpstr>
      <vt:lpstr>PowerPoint Presentation</vt:lpstr>
      <vt:lpstr>CONTENTS</vt:lpstr>
      <vt:lpstr>Abstract </vt:lpstr>
      <vt:lpstr>Introduction </vt:lpstr>
      <vt:lpstr>Literature Survey</vt:lpstr>
      <vt:lpstr>PowerPoint Presentation</vt:lpstr>
      <vt:lpstr>PowerPoint Presentation</vt:lpstr>
      <vt:lpstr>PowerPoint Presentation</vt:lpstr>
      <vt:lpstr>Existing System </vt:lpstr>
      <vt:lpstr>AlexNet architecture:</vt:lpstr>
      <vt:lpstr>PowerPoint Presentation</vt:lpstr>
      <vt:lpstr>PowerPoint Presentation</vt:lpstr>
      <vt:lpstr>Residual Network</vt:lpstr>
      <vt:lpstr>PowerPoint Presentation</vt:lpstr>
      <vt:lpstr>Dense Network</vt:lpstr>
      <vt:lpstr>DRAWBACKS OF EXISTING SYSTEM</vt:lpstr>
      <vt:lpstr>PROPOSED SYSTEM</vt:lpstr>
      <vt:lpstr>PowerPoint Presentation</vt:lpstr>
      <vt:lpstr>PowerPoint Presentation</vt:lpstr>
      <vt:lpstr>METHODOLOGIES</vt:lpstr>
      <vt:lpstr>DATASET</vt:lpstr>
      <vt:lpstr>PowerPoint Presentation</vt:lpstr>
      <vt:lpstr>  FUTURE ENHANCEMENTS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Mahikshit Kurapati</dc:creator>
  <cp:lastModifiedBy>Mahikshit Kurapati</cp:lastModifiedBy>
  <cp:revision>7</cp:revision>
  <dcterms:created xsi:type="dcterms:W3CDTF">2022-03-01T16:36:51Z</dcterms:created>
  <dcterms:modified xsi:type="dcterms:W3CDTF">2022-03-01T17:12:34Z</dcterms:modified>
</cp:coreProperties>
</file>